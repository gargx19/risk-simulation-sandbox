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embeddedFontLst>
    <p:embeddedFont>
      <p:font typeface="Inter SemiBold" panose="020B0604020202020204" charset="0"/>
      <p:regular r:id="rId11"/>
      <p:bold r:id="rId12"/>
      <p:italic r:id="rId13"/>
      <p:boldItalic r:id="rId14"/>
    </p:embeddedFont>
    <p:embeddedFont>
      <p:font typeface="Times" panose="02020603050405020304" pitchFamily="18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9" roundtripDataSignature="AMtx7mh3W5071MZhkANYtxFl+DItONhtj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6" d="100"/>
          <a:sy n="56" d="100"/>
        </p:scale>
        <p:origin x="610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font" Target="fonts/font1.fntdata"/><Relationship Id="rId12" Type="http://schemas.openxmlformats.org/officeDocument/2006/relationships/font" Target="fonts/font2.fntdata"/><Relationship Id="rId13" Type="http://schemas.openxmlformats.org/officeDocument/2006/relationships/font" Target="fonts/font3.fntdata"/><Relationship Id="rId14" Type="http://schemas.openxmlformats.org/officeDocument/2006/relationships/font" Target="fonts/font4.fntdata"/><Relationship Id="rId15" Type="http://schemas.openxmlformats.org/officeDocument/2006/relationships/font" Target="fonts/font5.fntdata"/><Relationship Id="rId16" Type="http://schemas.openxmlformats.org/officeDocument/2006/relationships/font" Target="fonts/font6.fntdata"/><Relationship Id="rId17" Type="http://schemas.openxmlformats.org/officeDocument/2006/relationships/font" Target="fonts/font7.fntdata"/><Relationship Id="rId18" Type="http://schemas.openxmlformats.org/officeDocument/2006/relationships/font" Target="fonts/font8.fntdata"/><Relationship Id="rId19" Type="http://customschemas.google.com/relationships/presentationmetadata" Target="metadata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1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3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3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4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5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5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5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5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7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7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8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8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9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0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74701" b="-74701"/>
            </a:stretch>
          </a:blipFill>
          <a:ln>
            <a:noFill/>
          </a:ln>
        </p:spPr>
      </p:sp>
      <p:sp>
        <p:nvSpPr>
          <p:cNvPr id="85" name="Google Shape;85;p1"/>
          <p:cNvSpPr/>
          <p:nvPr/>
        </p:nvSpPr>
        <p:spPr>
          <a:xfrm>
            <a:off x="15368717" y="280342"/>
            <a:ext cx="2394785" cy="663555"/>
          </a:xfrm>
          <a:custGeom>
            <a:avLst/>
            <a:gdLst/>
            <a:ahLst/>
            <a:cxnLst/>
            <a:rect l="l" t="t" r="r" b="b"/>
            <a:pathLst>
              <a:path w="2394785" h="663555" extrusionOk="0">
                <a:moveTo>
                  <a:pt x="0" y="0"/>
                </a:moveTo>
                <a:lnTo>
                  <a:pt x="2394785" y="0"/>
                </a:lnTo>
                <a:lnTo>
                  <a:pt x="2394785" y="663555"/>
                </a:lnTo>
                <a:lnTo>
                  <a:pt x="0" y="6635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86" name="Google Shape;86;p1"/>
          <p:cNvSpPr/>
          <p:nvPr/>
        </p:nvSpPr>
        <p:spPr>
          <a:xfrm>
            <a:off x="273353" y="196765"/>
            <a:ext cx="2690915" cy="806153"/>
          </a:xfrm>
          <a:custGeom>
            <a:avLst/>
            <a:gdLst/>
            <a:ahLst/>
            <a:cxnLst/>
            <a:rect l="l" t="t" r="r" b="b"/>
            <a:pathLst>
              <a:path w="2690915" h="806153" extrusionOk="0">
                <a:moveTo>
                  <a:pt x="0" y="0"/>
                </a:moveTo>
                <a:lnTo>
                  <a:pt x="2690914" y="0"/>
                </a:lnTo>
                <a:lnTo>
                  <a:pt x="2690914" y="806153"/>
                </a:lnTo>
                <a:lnTo>
                  <a:pt x="0" y="8061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87" name="Google Shape;87;p1"/>
          <p:cNvSpPr/>
          <p:nvPr/>
        </p:nvSpPr>
        <p:spPr>
          <a:xfrm>
            <a:off x="10893623" y="280342"/>
            <a:ext cx="4147219" cy="663555"/>
          </a:xfrm>
          <a:custGeom>
            <a:avLst/>
            <a:gdLst/>
            <a:ahLst/>
            <a:cxnLst/>
            <a:rect l="l" t="t" r="r" b="b"/>
            <a:pathLst>
              <a:path w="4147219" h="663555" extrusionOk="0">
                <a:moveTo>
                  <a:pt x="0" y="0"/>
                </a:moveTo>
                <a:lnTo>
                  <a:pt x="4147219" y="0"/>
                </a:lnTo>
                <a:lnTo>
                  <a:pt x="4147219" y="663555"/>
                </a:lnTo>
                <a:lnTo>
                  <a:pt x="0" y="6635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88" name="Google Shape;88;p1"/>
          <p:cNvSpPr txBox="1"/>
          <p:nvPr/>
        </p:nvSpPr>
        <p:spPr>
          <a:xfrm>
            <a:off x="1028700" y="6584151"/>
            <a:ext cx="16230600" cy="3446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99" b="1" i="0" u="none" strike="noStrike" cap="none" dirty="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Team Name: Tech4</a:t>
            </a:r>
            <a:endParaRPr dirty="0"/>
          </a:p>
          <a:p>
            <a:pPr marL="0" marR="0" lvl="0" indent="0" algn="just" rtl="0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99" b="1" i="0" u="none" strike="noStrike" cap="none" dirty="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Problem Statement: Investigating Fear</a:t>
            </a:r>
            <a:endParaRPr dirty="0"/>
          </a:p>
          <a:p>
            <a:pPr marL="0" marR="0" lvl="0" indent="0" algn="just" rtl="0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99" b="1" i="0" u="none" strike="noStrike" cap="none" dirty="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Team Lead: Krish Garg</a:t>
            </a:r>
            <a:endParaRPr dirty="0"/>
          </a:p>
          <a:p>
            <a:pPr marL="0" marR="0" lvl="0" indent="0" algn="just" rtl="0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99" b="1" i="0" u="none" strike="noStrike" cap="none" dirty="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Team Members: Lipika, Diksha, Devanshu Garg</a:t>
            </a:r>
            <a:endParaRPr dirty="0"/>
          </a:p>
        </p:txBody>
      </p:sp>
      <p:grpSp>
        <p:nvGrpSpPr>
          <p:cNvPr id="89" name="Google Shape;89;p1"/>
          <p:cNvGrpSpPr/>
          <p:nvPr/>
        </p:nvGrpSpPr>
        <p:grpSpPr>
          <a:xfrm>
            <a:off x="273353" y="1592759"/>
            <a:ext cx="17490150" cy="4772332"/>
            <a:chOff x="0" y="295275"/>
            <a:chExt cx="23320200" cy="6363109"/>
          </a:xfrm>
        </p:grpSpPr>
        <p:sp>
          <p:nvSpPr>
            <p:cNvPr id="90" name="Google Shape;90;p1"/>
            <p:cNvSpPr txBox="1"/>
            <p:nvPr/>
          </p:nvSpPr>
          <p:spPr>
            <a:xfrm>
              <a:off x="0" y="295275"/>
              <a:ext cx="23320200" cy="380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9500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765" b="1" i="0" u="none" strike="noStrike" cap="none">
                  <a:solidFill>
                    <a:srgbClr val="CA705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FINVASIA INNOVATION HACKATHON 2026</a:t>
              </a:r>
              <a:endParaRPr sz="100"/>
            </a:p>
          </p:txBody>
        </p:sp>
        <p:sp>
          <p:nvSpPr>
            <p:cNvPr id="91" name="Google Shape;91;p1"/>
            <p:cNvSpPr txBox="1"/>
            <p:nvPr/>
          </p:nvSpPr>
          <p:spPr>
            <a:xfrm>
              <a:off x="1287713" y="4576384"/>
              <a:ext cx="20744700" cy="208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4000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539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 xml:space="preserve">Leveraging Emerging Trends and Technologies for </a:t>
              </a:r>
              <a:endParaRPr/>
            </a:p>
            <a:p>
              <a:pPr marL="0" marR="0" lvl="0" indent="0" algn="ctr" rtl="0">
                <a:lnSpc>
                  <a:spcPct val="14000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539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Financial Innovation</a:t>
              </a:r>
              <a:endParaRPr/>
            </a:p>
          </p:txBody>
        </p:sp>
        <p:cxnSp>
          <p:nvCxnSpPr>
            <p:cNvPr id="92" name="Google Shape;92;p1"/>
            <p:cNvCxnSpPr/>
            <p:nvPr/>
          </p:nvCxnSpPr>
          <p:spPr>
            <a:xfrm>
              <a:off x="995079" y="4600681"/>
              <a:ext cx="21037407" cy="0"/>
            </a:xfrm>
            <a:prstGeom prst="straightConnector1">
              <a:avLst/>
            </a:prstGeom>
            <a:noFill/>
            <a:ln w="125125" cap="flat" cmpd="sng">
              <a:solidFill>
                <a:srgbClr val="AD5C4A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93" name="Google Shape;93;p1"/>
          <p:cNvGrpSpPr/>
          <p:nvPr/>
        </p:nvGrpSpPr>
        <p:grpSpPr>
          <a:xfrm>
            <a:off x="4461177" y="2740087"/>
            <a:ext cx="9365646" cy="4806826"/>
            <a:chOff x="0" y="0"/>
            <a:chExt cx="12487528" cy="6409101"/>
          </a:xfrm>
        </p:grpSpPr>
        <p:sp>
          <p:nvSpPr>
            <p:cNvPr id="94" name="Google Shape;94;p1"/>
            <p:cNvSpPr/>
            <p:nvPr/>
          </p:nvSpPr>
          <p:spPr>
            <a:xfrm>
              <a:off x="0" y="2996179"/>
              <a:ext cx="12487528" cy="3412922"/>
            </a:xfrm>
            <a:custGeom>
              <a:avLst/>
              <a:gdLst/>
              <a:ahLst/>
              <a:cxnLst/>
              <a:rect l="l" t="t" r="r" b="b"/>
              <a:pathLst>
                <a:path w="12487528" h="3412922" extrusionOk="0">
                  <a:moveTo>
                    <a:pt x="0" y="0"/>
                  </a:moveTo>
                  <a:lnTo>
                    <a:pt x="12487528" y="0"/>
                  </a:lnTo>
                  <a:lnTo>
                    <a:pt x="12487528" y="3412922"/>
                  </a:lnTo>
                  <a:lnTo>
                    <a:pt x="0" y="341292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 amt="26400"/>
              </a:blip>
              <a:stretch>
                <a:fillRect l="-4230" t="-139379" r="-3650" b="-155363"/>
              </a:stretch>
            </a:blipFill>
            <a:ln>
              <a:noFill/>
            </a:ln>
          </p:spPr>
        </p:sp>
        <p:sp>
          <p:nvSpPr>
            <p:cNvPr id="95" name="Google Shape;95;p1"/>
            <p:cNvSpPr/>
            <p:nvPr/>
          </p:nvSpPr>
          <p:spPr>
            <a:xfrm>
              <a:off x="458413" y="0"/>
              <a:ext cx="11570701" cy="1851312"/>
            </a:xfrm>
            <a:custGeom>
              <a:avLst/>
              <a:gdLst/>
              <a:ahLst/>
              <a:cxnLst/>
              <a:rect l="l" t="t" r="r" b="b"/>
              <a:pathLst>
                <a:path w="11570701" h="1851312" extrusionOk="0">
                  <a:moveTo>
                    <a:pt x="0" y="0"/>
                  </a:moveTo>
                  <a:lnTo>
                    <a:pt x="11570701" y="0"/>
                  </a:lnTo>
                  <a:lnTo>
                    <a:pt x="11570701" y="1851312"/>
                  </a:lnTo>
                  <a:lnTo>
                    <a:pt x="0" y="185131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 amt="26400"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96" name="Google Shape;96;p1"/>
            <p:cNvSpPr txBox="1"/>
            <p:nvPr/>
          </p:nvSpPr>
          <p:spPr>
            <a:xfrm>
              <a:off x="5462020" y="2180684"/>
              <a:ext cx="1095600" cy="28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3999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"/>
          <p:cNvSpPr/>
          <p:nvPr/>
        </p:nvSpPr>
        <p:spPr>
          <a:xfrm>
            <a:off x="13648" y="27296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74701" b="-74701"/>
            </a:stretch>
          </a:blipFill>
          <a:ln>
            <a:noFill/>
          </a:ln>
        </p:spPr>
      </p:sp>
      <p:sp>
        <p:nvSpPr>
          <p:cNvPr id="102" name="Google Shape;102;p2"/>
          <p:cNvSpPr/>
          <p:nvPr/>
        </p:nvSpPr>
        <p:spPr>
          <a:xfrm>
            <a:off x="15368717" y="280342"/>
            <a:ext cx="2394785" cy="663555"/>
          </a:xfrm>
          <a:custGeom>
            <a:avLst/>
            <a:gdLst/>
            <a:ahLst/>
            <a:cxnLst/>
            <a:rect l="l" t="t" r="r" b="b"/>
            <a:pathLst>
              <a:path w="2394785" h="663555" extrusionOk="0">
                <a:moveTo>
                  <a:pt x="0" y="0"/>
                </a:moveTo>
                <a:lnTo>
                  <a:pt x="2394785" y="0"/>
                </a:lnTo>
                <a:lnTo>
                  <a:pt x="2394785" y="663555"/>
                </a:lnTo>
                <a:lnTo>
                  <a:pt x="0" y="6635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03" name="Google Shape;103;p2"/>
          <p:cNvSpPr/>
          <p:nvPr/>
        </p:nvSpPr>
        <p:spPr>
          <a:xfrm>
            <a:off x="273353" y="196765"/>
            <a:ext cx="2690915" cy="806153"/>
          </a:xfrm>
          <a:custGeom>
            <a:avLst/>
            <a:gdLst/>
            <a:ahLst/>
            <a:cxnLst/>
            <a:rect l="l" t="t" r="r" b="b"/>
            <a:pathLst>
              <a:path w="2690915" h="806153" extrusionOk="0">
                <a:moveTo>
                  <a:pt x="0" y="0"/>
                </a:moveTo>
                <a:lnTo>
                  <a:pt x="2690914" y="0"/>
                </a:lnTo>
                <a:lnTo>
                  <a:pt x="2690914" y="806153"/>
                </a:lnTo>
                <a:lnTo>
                  <a:pt x="0" y="8061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04" name="Google Shape;104;p2"/>
          <p:cNvSpPr/>
          <p:nvPr/>
        </p:nvSpPr>
        <p:spPr>
          <a:xfrm>
            <a:off x="10893623" y="280342"/>
            <a:ext cx="4147219" cy="663555"/>
          </a:xfrm>
          <a:custGeom>
            <a:avLst/>
            <a:gdLst/>
            <a:ahLst/>
            <a:cxnLst/>
            <a:rect l="l" t="t" r="r" b="b"/>
            <a:pathLst>
              <a:path w="4147219" h="663555" extrusionOk="0">
                <a:moveTo>
                  <a:pt x="0" y="0"/>
                </a:moveTo>
                <a:lnTo>
                  <a:pt x="4147219" y="0"/>
                </a:lnTo>
                <a:lnTo>
                  <a:pt x="4147219" y="663555"/>
                </a:lnTo>
                <a:lnTo>
                  <a:pt x="0" y="6635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105" name="Google Shape;105;p2"/>
          <p:cNvGrpSpPr/>
          <p:nvPr/>
        </p:nvGrpSpPr>
        <p:grpSpPr>
          <a:xfrm>
            <a:off x="4461177" y="2740087"/>
            <a:ext cx="9365646" cy="4806826"/>
            <a:chOff x="0" y="0"/>
            <a:chExt cx="12487528" cy="6409101"/>
          </a:xfrm>
        </p:grpSpPr>
        <p:sp>
          <p:nvSpPr>
            <p:cNvPr id="106" name="Google Shape;106;p2"/>
            <p:cNvSpPr/>
            <p:nvPr/>
          </p:nvSpPr>
          <p:spPr>
            <a:xfrm>
              <a:off x="0" y="2996179"/>
              <a:ext cx="12487528" cy="3412922"/>
            </a:xfrm>
            <a:custGeom>
              <a:avLst/>
              <a:gdLst/>
              <a:ahLst/>
              <a:cxnLst/>
              <a:rect l="l" t="t" r="r" b="b"/>
              <a:pathLst>
                <a:path w="12487528" h="3412922" extrusionOk="0">
                  <a:moveTo>
                    <a:pt x="0" y="0"/>
                  </a:moveTo>
                  <a:lnTo>
                    <a:pt x="12487528" y="0"/>
                  </a:lnTo>
                  <a:lnTo>
                    <a:pt x="12487528" y="3412922"/>
                  </a:lnTo>
                  <a:lnTo>
                    <a:pt x="0" y="341292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 amt="26400"/>
              </a:blip>
              <a:stretch>
                <a:fillRect l="-4232" t="-139379" r="-3652" b="-155363"/>
              </a:stretch>
            </a:blipFill>
            <a:ln>
              <a:noFill/>
            </a:ln>
          </p:spPr>
        </p:sp>
        <p:sp>
          <p:nvSpPr>
            <p:cNvPr id="107" name="Google Shape;107;p2"/>
            <p:cNvSpPr/>
            <p:nvPr/>
          </p:nvSpPr>
          <p:spPr>
            <a:xfrm>
              <a:off x="458413" y="0"/>
              <a:ext cx="11570701" cy="1851312"/>
            </a:xfrm>
            <a:custGeom>
              <a:avLst/>
              <a:gdLst/>
              <a:ahLst/>
              <a:cxnLst/>
              <a:rect l="l" t="t" r="r" b="b"/>
              <a:pathLst>
                <a:path w="11570701" h="1851312" extrusionOk="0">
                  <a:moveTo>
                    <a:pt x="0" y="0"/>
                  </a:moveTo>
                  <a:lnTo>
                    <a:pt x="11570701" y="0"/>
                  </a:lnTo>
                  <a:lnTo>
                    <a:pt x="11570701" y="1851312"/>
                  </a:lnTo>
                  <a:lnTo>
                    <a:pt x="0" y="185131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 amt="26400"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108" name="Google Shape;108;p2"/>
            <p:cNvSpPr txBox="1"/>
            <p:nvPr/>
          </p:nvSpPr>
          <p:spPr>
            <a:xfrm>
              <a:off x="5462020" y="2180684"/>
              <a:ext cx="1095600" cy="28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3999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9" name="Google Shape;109;p2"/>
          <p:cNvSpPr txBox="1"/>
          <p:nvPr/>
        </p:nvSpPr>
        <p:spPr>
          <a:xfrm>
            <a:off x="413225" y="1231948"/>
            <a:ext cx="16230600" cy="568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99" b="1" i="0" u="none" strike="noStrike" cap="none" dirty="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Problem Statement</a:t>
            </a:r>
            <a:endParaRPr dirty="0"/>
          </a:p>
          <a:p>
            <a:pPr marL="647697" lvl="1" indent="-323848">
              <a:lnSpc>
                <a:spcPct val="140013"/>
              </a:lnSpc>
              <a:buSzPts val="2999"/>
              <a:buFont typeface="Arial"/>
              <a:buChar char="•"/>
            </a:pPr>
            <a:r>
              <a:rPr lang="en-US" sz="2999" b="1" i="0" u="none" strike="noStrike" cap="none" dirty="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 xml:space="preserve">Current system limitations : </a:t>
            </a:r>
            <a:r>
              <a:rPr lang="en-US" sz="2600" dirty="0">
                <a:latin typeface="Times" panose="02020603050405020304" pitchFamily="18" charset="0"/>
                <a:cs typeface="Times" panose="02020603050405020304" pitchFamily="18" charset="0"/>
              </a:rPr>
              <a:t>Traditional financial tools rely on static, linear calculators and intimidating jargon that fail to represent real-world market uncertainty.</a:t>
            </a:r>
            <a:endParaRPr sz="26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647697" lvl="1" indent="-323848">
              <a:lnSpc>
                <a:spcPct val="140013"/>
              </a:lnSpc>
              <a:buSzPts val="2999"/>
              <a:buFont typeface="Arial"/>
              <a:buChar char="•"/>
            </a:pPr>
            <a:r>
              <a:rPr lang="en-US" sz="2999" b="1" i="0" u="none" strike="noStrike" cap="none" dirty="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 xml:space="preserve">User pain points : </a:t>
            </a:r>
            <a:r>
              <a:rPr lang="en-US" sz="2600" dirty="0">
                <a:latin typeface="Times" panose="02020603050405020304" pitchFamily="18" charset="0"/>
                <a:cs typeface="Times" panose="02020603050405020304" pitchFamily="18" charset="0"/>
              </a:rPr>
              <a:t>Retail investors suffer from "Investment Fear," leading them to avoid markets due to a fundamental misunderstanding of volatility.</a:t>
            </a:r>
            <a:endParaRPr sz="26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647697" lvl="1" indent="-323848">
              <a:lnSpc>
                <a:spcPct val="140013"/>
              </a:lnSpc>
              <a:buSzPts val="2999"/>
              <a:buFont typeface="Arial"/>
              <a:buChar char="•"/>
            </a:pPr>
            <a:r>
              <a:rPr lang="en-US" sz="2999" b="1" i="0" u="none" strike="noStrike" cap="none" dirty="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 xml:space="preserve">Technical or operational challenges : </a:t>
            </a:r>
            <a:r>
              <a:rPr lang="en-US" sz="2600" dirty="0">
                <a:latin typeface="Times" panose="02020603050405020304" pitchFamily="18" charset="0"/>
                <a:cs typeface="Times" panose="02020603050405020304" pitchFamily="18" charset="0"/>
              </a:rPr>
              <a:t>Translating complex mathematical distribution outcomes into human-readable, actionable advice in real-time.</a:t>
            </a:r>
            <a:endParaRPr sz="26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647697" lvl="1" indent="-323848">
              <a:lnSpc>
                <a:spcPct val="140013"/>
              </a:lnSpc>
              <a:buSzPts val="2999"/>
              <a:buFont typeface="Arial"/>
              <a:buChar char="•"/>
            </a:pPr>
            <a:r>
              <a:rPr lang="en-US" sz="2999" b="1" i="0" u="none" strike="noStrike" cap="none" dirty="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 xml:space="preserve">Why this problem matters now : </a:t>
            </a:r>
            <a:r>
              <a:rPr lang="en-US" sz="2600" dirty="0">
                <a:latin typeface="Times" panose="02020603050405020304" pitchFamily="18" charset="0"/>
                <a:cs typeface="Times" panose="02020603050405020304" pitchFamily="18" charset="0"/>
              </a:rPr>
              <a:t>Accessible financial education is critical as more retail participants enter the market but lack tools to evaluate long-term risk effectively.</a:t>
            </a:r>
            <a:endParaRPr sz="26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74701" b="-74701"/>
            </a:stretch>
          </a:blipFill>
          <a:ln>
            <a:noFill/>
          </a:ln>
        </p:spPr>
      </p:sp>
      <p:sp>
        <p:nvSpPr>
          <p:cNvPr id="115" name="Google Shape;115;p3"/>
          <p:cNvSpPr/>
          <p:nvPr/>
        </p:nvSpPr>
        <p:spPr>
          <a:xfrm>
            <a:off x="15368717" y="280342"/>
            <a:ext cx="2394785" cy="663555"/>
          </a:xfrm>
          <a:custGeom>
            <a:avLst/>
            <a:gdLst/>
            <a:ahLst/>
            <a:cxnLst/>
            <a:rect l="l" t="t" r="r" b="b"/>
            <a:pathLst>
              <a:path w="2394785" h="663555" extrusionOk="0">
                <a:moveTo>
                  <a:pt x="0" y="0"/>
                </a:moveTo>
                <a:lnTo>
                  <a:pt x="2394785" y="0"/>
                </a:lnTo>
                <a:lnTo>
                  <a:pt x="2394785" y="663555"/>
                </a:lnTo>
                <a:lnTo>
                  <a:pt x="0" y="6635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16" name="Google Shape;116;p3"/>
          <p:cNvSpPr/>
          <p:nvPr/>
        </p:nvSpPr>
        <p:spPr>
          <a:xfrm>
            <a:off x="273353" y="196765"/>
            <a:ext cx="2690915" cy="806153"/>
          </a:xfrm>
          <a:custGeom>
            <a:avLst/>
            <a:gdLst/>
            <a:ahLst/>
            <a:cxnLst/>
            <a:rect l="l" t="t" r="r" b="b"/>
            <a:pathLst>
              <a:path w="2690915" h="806153" extrusionOk="0">
                <a:moveTo>
                  <a:pt x="0" y="0"/>
                </a:moveTo>
                <a:lnTo>
                  <a:pt x="2690914" y="0"/>
                </a:lnTo>
                <a:lnTo>
                  <a:pt x="2690914" y="806153"/>
                </a:lnTo>
                <a:lnTo>
                  <a:pt x="0" y="8061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17" name="Google Shape;117;p3"/>
          <p:cNvSpPr/>
          <p:nvPr/>
        </p:nvSpPr>
        <p:spPr>
          <a:xfrm>
            <a:off x="10893623" y="280342"/>
            <a:ext cx="4147219" cy="663555"/>
          </a:xfrm>
          <a:custGeom>
            <a:avLst/>
            <a:gdLst/>
            <a:ahLst/>
            <a:cxnLst/>
            <a:rect l="l" t="t" r="r" b="b"/>
            <a:pathLst>
              <a:path w="4147219" h="663555" extrusionOk="0">
                <a:moveTo>
                  <a:pt x="0" y="0"/>
                </a:moveTo>
                <a:lnTo>
                  <a:pt x="4147219" y="0"/>
                </a:lnTo>
                <a:lnTo>
                  <a:pt x="4147219" y="663555"/>
                </a:lnTo>
                <a:lnTo>
                  <a:pt x="0" y="6635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118" name="Google Shape;118;p3"/>
          <p:cNvGrpSpPr/>
          <p:nvPr/>
        </p:nvGrpSpPr>
        <p:grpSpPr>
          <a:xfrm>
            <a:off x="4461177" y="2740087"/>
            <a:ext cx="9365646" cy="4806826"/>
            <a:chOff x="0" y="0"/>
            <a:chExt cx="12487528" cy="6409101"/>
          </a:xfrm>
        </p:grpSpPr>
        <p:sp>
          <p:nvSpPr>
            <p:cNvPr id="119" name="Google Shape;119;p3"/>
            <p:cNvSpPr/>
            <p:nvPr/>
          </p:nvSpPr>
          <p:spPr>
            <a:xfrm>
              <a:off x="0" y="2996179"/>
              <a:ext cx="12487528" cy="3412922"/>
            </a:xfrm>
            <a:custGeom>
              <a:avLst/>
              <a:gdLst/>
              <a:ahLst/>
              <a:cxnLst/>
              <a:rect l="l" t="t" r="r" b="b"/>
              <a:pathLst>
                <a:path w="12487528" h="3412922" extrusionOk="0">
                  <a:moveTo>
                    <a:pt x="0" y="0"/>
                  </a:moveTo>
                  <a:lnTo>
                    <a:pt x="12487528" y="0"/>
                  </a:lnTo>
                  <a:lnTo>
                    <a:pt x="12487528" y="3412922"/>
                  </a:lnTo>
                  <a:lnTo>
                    <a:pt x="0" y="341292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 amt="26400"/>
              </a:blip>
              <a:stretch>
                <a:fillRect l="-4232" t="-139379" r="-3652" b="-155363"/>
              </a:stretch>
            </a:blipFill>
            <a:ln>
              <a:noFill/>
            </a:ln>
          </p:spPr>
        </p:sp>
        <p:sp>
          <p:nvSpPr>
            <p:cNvPr id="120" name="Google Shape;120;p3"/>
            <p:cNvSpPr/>
            <p:nvPr/>
          </p:nvSpPr>
          <p:spPr>
            <a:xfrm>
              <a:off x="458413" y="0"/>
              <a:ext cx="11570701" cy="1851312"/>
            </a:xfrm>
            <a:custGeom>
              <a:avLst/>
              <a:gdLst/>
              <a:ahLst/>
              <a:cxnLst/>
              <a:rect l="l" t="t" r="r" b="b"/>
              <a:pathLst>
                <a:path w="11570701" h="1851312" extrusionOk="0">
                  <a:moveTo>
                    <a:pt x="0" y="0"/>
                  </a:moveTo>
                  <a:lnTo>
                    <a:pt x="11570701" y="0"/>
                  </a:lnTo>
                  <a:lnTo>
                    <a:pt x="11570701" y="1851312"/>
                  </a:lnTo>
                  <a:lnTo>
                    <a:pt x="0" y="185131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 amt="26400"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121" name="Google Shape;121;p3"/>
            <p:cNvSpPr txBox="1"/>
            <p:nvPr/>
          </p:nvSpPr>
          <p:spPr>
            <a:xfrm>
              <a:off x="5462020" y="2180684"/>
              <a:ext cx="1095600" cy="28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3999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2" name="Google Shape;122;p3"/>
          <p:cNvSpPr txBox="1"/>
          <p:nvPr/>
        </p:nvSpPr>
        <p:spPr>
          <a:xfrm>
            <a:off x="413225" y="1231947"/>
            <a:ext cx="16230600" cy="568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99" b="1" i="0" u="none" strike="noStrike" cap="none" dirty="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 xml:space="preserve">Proposed Solution </a:t>
            </a:r>
            <a:endParaRPr dirty="0"/>
          </a:p>
          <a:p>
            <a:pPr marL="647697" indent="-323848" algn="just">
              <a:lnSpc>
                <a:spcPct val="140013"/>
              </a:lnSpc>
              <a:buSzPts val="2999"/>
              <a:buFont typeface="Arial"/>
              <a:buChar char="•"/>
            </a:pPr>
            <a:r>
              <a:rPr lang="en-US" sz="2999" b="1" i="0" u="none" strike="noStrike" cap="none" dirty="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 xml:space="preserve">Core idea / concept : </a:t>
            </a:r>
            <a:r>
              <a:rPr lang="en-US" sz="2600" dirty="0">
                <a:latin typeface="Times" panose="02020603050405020304" pitchFamily="18" charset="0"/>
                <a:cs typeface="Times" panose="02020603050405020304" pitchFamily="18" charset="0"/>
              </a:rPr>
              <a:t>An AI-powered "Sandbox" that runs 1,000 parallel Monte Carlo simulations to model market behavior.</a:t>
            </a:r>
            <a:endParaRPr sz="26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647697" lvl="1" indent="-323848" algn="just">
              <a:lnSpc>
                <a:spcPct val="140013"/>
              </a:lnSpc>
              <a:buSzPts val="2999"/>
              <a:buFont typeface="Arial"/>
              <a:buChar char="•"/>
            </a:pPr>
            <a:r>
              <a:rPr lang="en-US" sz="2999" b="1" i="0" u="none" strike="noStrike" cap="none" dirty="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 xml:space="preserve">Key features : </a:t>
            </a:r>
            <a:r>
              <a:rPr lang="en-US" sz="2600" dirty="0">
                <a:latin typeface="Times" panose="02020603050405020304" pitchFamily="18" charset="0"/>
                <a:cs typeface="Times" panose="02020603050405020304" pitchFamily="18" charset="0"/>
              </a:rPr>
              <a:t>Calculation of statistical medians and 5th-percentile "Worst Case" scenarios based on user-specific stock allocation.</a:t>
            </a:r>
            <a:endParaRPr sz="26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647697" lvl="1" indent="-323848" algn="just">
              <a:lnSpc>
                <a:spcPct val="140013"/>
              </a:lnSpc>
              <a:buSzPts val="2999"/>
              <a:buFont typeface="Arial"/>
              <a:buChar char="•"/>
            </a:pPr>
            <a:r>
              <a:rPr lang="en-US" sz="2999" b="1" i="0" u="none" strike="noStrike" cap="none" dirty="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 xml:space="preserve">How it addresses the challenges </a:t>
            </a:r>
            <a:r>
              <a:rPr lang="en-US" sz="3000" b="1" i="0" u="none" strike="noStrike" cap="none" dirty="0">
                <a:solidFill>
                  <a:srgbClr val="000000"/>
                </a:solidFill>
                <a:latin typeface="Times" panose="02020603050405020304" pitchFamily="18" charset="0"/>
                <a:ea typeface="Times"/>
                <a:cs typeface="Times" panose="02020603050405020304" pitchFamily="18" charset="0"/>
                <a:sym typeface="Times"/>
              </a:rPr>
              <a:t>:</a:t>
            </a:r>
            <a:r>
              <a:rPr lang="en-US" sz="2600" b="1" i="0" u="none" strike="noStrike" cap="none" dirty="0">
                <a:solidFill>
                  <a:srgbClr val="000000"/>
                </a:solidFill>
                <a:latin typeface="Times" panose="02020603050405020304" pitchFamily="18" charset="0"/>
                <a:ea typeface="Times"/>
                <a:cs typeface="Times" panose="02020603050405020304" pitchFamily="18" charset="0"/>
                <a:sym typeface="Times"/>
              </a:rPr>
              <a:t xml:space="preserve"> </a:t>
            </a:r>
            <a:r>
              <a:rPr lang="en-US" sz="2600" dirty="0">
                <a:latin typeface="Times" panose="02020603050405020304" pitchFamily="18" charset="0"/>
                <a:cs typeface="Times" panose="02020603050405020304" pitchFamily="18" charset="0"/>
              </a:rPr>
              <a:t>It uses a Large Language Model (LLM) to convert jagged data points into an empathetic financial coaching narrative.</a:t>
            </a:r>
            <a:endParaRPr sz="26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647697" lvl="1" indent="-323848" algn="just">
              <a:lnSpc>
                <a:spcPct val="140013"/>
              </a:lnSpc>
              <a:buSzPts val="2999"/>
              <a:buFont typeface="Arial"/>
              <a:buChar char="•"/>
            </a:pPr>
            <a:r>
              <a:rPr lang="en-US" sz="2999" b="1" i="0" u="none" strike="noStrike" cap="none" dirty="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 xml:space="preserve">Why this solution is better than existing ones </a:t>
            </a:r>
            <a:r>
              <a:rPr lang="en-US" sz="3000" b="1" i="0" u="none" strike="noStrike" cap="none" dirty="0">
                <a:solidFill>
                  <a:srgbClr val="000000"/>
                </a:solidFill>
                <a:latin typeface="Times" panose="02020603050405020304" pitchFamily="18" charset="0"/>
                <a:ea typeface="Times"/>
                <a:cs typeface="Times" panose="02020603050405020304" pitchFamily="18" charset="0"/>
                <a:sym typeface="Times"/>
              </a:rPr>
              <a:t>:</a:t>
            </a:r>
            <a:r>
              <a:rPr lang="en-US" sz="2600" b="1" i="0" u="none" strike="noStrike" cap="none" dirty="0">
                <a:solidFill>
                  <a:srgbClr val="000000"/>
                </a:solidFill>
                <a:latin typeface="Times" panose="02020603050405020304" pitchFamily="18" charset="0"/>
                <a:ea typeface="Times"/>
                <a:cs typeface="Times" panose="02020603050405020304" pitchFamily="18" charset="0"/>
                <a:sym typeface="Times"/>
              </a:rPr>
              <a:t xml:space="preserve"> </a:t>
            </a:r>
            <a:r>
              <a:rPr lang="en-US" sz="2600" dirty="0">
                <a:latin typeface="Times" panose="02020603050405020304" pitchFamily="18" charset="0"/>
                <a:cs typeface="Times" panose="02020603050405020304" pitchFamily="18" charset="0"/>
              </a:rPr>
              <a:t>It offers dynamic, personalized, and humanized analysis instead of just rigid, intimidating numerical tables.</a:t>
            </a:r>
            <a:endParaRPr sz="26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74701" b="-74701"/>
            </a:stretch>
          </a:blipFill>
          <a:ln>
            <a:noFill/>
          </a:ln>
        </p:spPr>
      </p:sp>
      <p:sp>
        <p:nvSpPr>
          <p:cNvPr id="128" name="Google Shape;128;p4"/>
          <p:cNvSpPr/>
          <p:nvPr/>
        </p:nvSpPr>
        <p:spPr>
          <a:xfrm>
            <a:off x="15368717" y="280342"/>
            <a:ext cx="2394785" cy="663555"/>
          </a:xfrm>
          <a:custGeom>
            <a:avLst/>
            <a:gdLst/>
            <a:ahLst/>
            <a:cxnLst/>
            <a:rect l="l" t="t" r="r" b="b"/>
            <a:pathLst>
              <a:path w="2394785" h="663555" extrusionOk="0">
                <a:moveTo>
                  <a:pt x="0" y="0"/>
                </a:moveTo>
                <a:lnTo>
                  <a:pt x="2394785" y="0"/>
                </a:lnTo>
                <a:lnTo>
                  <a:pt x="2394785" y="663555"/>
                </a:lnTo>
                <a:lnTo>
                  <a:pt x="0" y="6635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29" name="Google Shape;129;p4"/>
          <p:cNvSpPr/>
          <p:nvPr/>
        </p:nvSpPr>
        <p:spPr>
          <a:xfrm>
            <a:off x="273353" y="196765"/>
            <a:ext cx="2690915" cy="806153"/>
          </a:xfrm>
          <a:custGeom>
            <a:avLst/>
            <a:gdLst/>
            <a:ahLst/>
            <a:cxnLst/>
            <a:rect l="l" t="t" r="r" b="b"/>
            <a:pathLst>
              <a:path w="2690915" h="806153" extrusionOk="0">
                <a:moveTo>
                  <a:pt x="0" y="0"/>
                </a:moveTo>
                <a:lnTo>
                  <a:pt x="2690914" y="0"/>
                </a:lnTo>
                <a:lnTo>
                  <a:pt x="2690914" y="806153"/>
                </a:lnTo>
                <a:lnTo>
                  <a:pt x="0" y="8061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30" name="Google Shape;130;p4"/>
          <p:cNvSpPr/>
          <p:nvPr/>
        </p:nvSpPr>
        <p:spPr>
          <a:xfrm>
            <a:off x="10893623" y="280342"/>
            <a:ext cx="4147219" cy="663555"/>
          </a:xfrm>
          <a:custGeom>
            <a:avLst/>
            <a:gdLst/>
            <a:ahLst/>
            <a:cxnLst/>
            <a:rect l="l" t="t" r="r" b="b"/>
            <a:pathLst>
              <a:path w="4147219" h="663555" extrusionOk="0">
                <a:moveTo>
                  <a:pt x="0" y="0"/>
                </a:moveTo>
                <a:lnTo>
                  <a:pt x="4147219" y="0"/>
                </a:lnTo>
                <a:lnTo>
                  <a:pt x="4147219" y="663555"/>
                </a:lnTo>
                <a:lnTo>
                  <a:pt x="0" y="6635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131" name="Google Shape;131;p4"/>
          <p:cNvGrpSpPr/>
          <p:nvPr/>
        </p:nvGrpSpPr>
        <p:grpSpPr>
          <a:xfrm>
            <a:off x="4461177" y="2740087"/>
            <a:ext cx="9365646" cy="4806826"/>
            <a:chOff x="0" y="0"/>
            <a:chExt cx="12487528" cy="6409101"/>
          </a:xfrm>
        </p:grpSpPr>
        <p:sp>
          <p:nvSpPr>
            <p:cNvPr id="132" name="Google Shape;132;p4"/>
            <p:cNvSpPr/>
            <p:nvPr/>
          </p:nvSpPr>
          <p:spPr>
            <a:xfrm>
              <a:off x="0" y="2996179"/>
              <a:ext cx="12487528" cy="3412922"/>
            </a:xfrm>
            <a:custGeom>
              <a:avLst/>
              <a:gdLst/>
              <a:ahLst/>
              <a:cxnLst/>
              <a:rect l="l" t="t" r="r" b="b"/>
              <a:pathLst>
                <a:path w="12487528" h="3412922" extrusionOk="0">
                  <a:moveTo>
                    <a:pt x="0" y="0"/>
                  </a:moveTo>
                  <a:lnTo>
                    <a:pt x="12487528" y="0"/>
                  </a:lnTo>
                  <a:lnTo>
                    <a:pt x="12487528" y="3412922"/>
                  </a:lnTo>
                  <a:lnTo>
                    <a:pt x="0" y="341292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 amt="26400"/>
              </a:blip>
              <a:stretch>
                <a:fillRect l="-4232" t="-139379" r="-3652" b="-155363"/>
              </a:stretch>
            </a:blipFill>
            <a:ln>
              <a:noFill/>
            </a:ln>
          </p:spPr>
        </p:sp>
        <p:sp>
          <p:nvSpPr>
            <p:cNvPr id="133" name="Google Shape;133;p4"/>
            <p:cNvSpPr/>
            <p:nvPr/>
          </p:nvSpPr>
          <p:spPr>
            <a:xfrm>
              <a:off x="458413" y="0"/>
              <a:ext cx="11570701" cy="1851312"/>
            </a:xfrm>
            <a:custGeom>
              <a:avLst/>
              <a:gdLst/>
              <a:ahLst/>
              <a:cxnLst/>
              <a:rect l="l" t="t" r="r" b="b"/>
              <a:pathLst>
                <a:path w="11570701" h="1851312" extrusionOk="0">
                  <a:moveTo>
                    <a:pt x="0" y="0"/>
                  </a:moveTo>
                  <a:lnTo>
                    <a:pt x="11570701" y="0"/>
                  </a:lnTo>
                  <a:lnTo>
                    <a:pt x="11570701" y="1851312"/>
                  </a:lnTo>
                  <a:lnTo>
                    <a:pt x="0" y="185131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 amt="26400"/>
              </a:blip>
              <a:stretch>
                <a:fillRect/>
              </a:stretch>
            </a:blipFill>
            <a:ln>
              <a:noFill/>
            </a:ln>
          </p:spPr>
        </p:sp>
      </p:grpSp>
      <p:sp>
        <p:nvSpPr>
          <p:cNvPr id="134" name="Google Shape;134;p4"/>
          <p:cNvSpPr txBox="1"/>
          <p:nvPr/>
        </p:nvSpPr>
        <p:spPr>
          <a:xfrm>
            <a:off x="413225" y="1231947"/>
            <a:ext cx="16230600" cy="4092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99" b="1" i="0" u="none" strike="noStrike" cap="none" dirty="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Architecture + Technical Description</a:t>
            </a:r>
            <a:endParaRPr dirty="0"/>
          </a:p>
          <a:p>
            <a:pPr marL="647697" marR="0" lvl="1" indent="-323848" algn="just" rtl="0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9"/>
              <a:buFont typeface="Arial"/>
              <a:buChar char="•"/>
            </a:pPr>
            <a:r>
              <a:rPr lang="en-US" sz="2999" b="1" i="0" u="none" strike="noStrike" cap="none" dirty="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Architecture diagram — User → Frontend → Flask Backend → Groq AI (see flow below) :</a:t>
            </a:r>
            <a:endParaRPr b="1" dirty="0"/>
          </a:p>
          <a:p>
            <a:pPr marL="647697" lvl="1" indent="-323848" algn="just">
              <a:lnSpc>
                <a:spcPct val="140013"/>
              </a:lnSpc>
              <a:buSzPts val="2999"/>
              <a:buFont typeface="Arial"/>
              <a:buChar char="•"/>
            </a:pPr>
            <a:r>
              <a:rPr lang="en-US" sz="2999" b="1" i="0" u="none" strike="noStrike" cap="none" dirty="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 xml:space="preserve">Frontend (UI) : </a:t>
            </a:r>
            <a:r>
              <a:rPr lang="en-US" sz="2300" dirty="0">
                <a:latin typeface="Times" panose="02020603050405020304" pitchFamily="18" charset="0"/>
                <a:cs typeface="Times" panose="02020603050405020304" pitchFamily="18" charset="0"/>
              </a:rPr>
              <a:t>Built with HTML5, CSS3 (Modern Dark Theme), and Chart.js for smooth, gradient-filled risk visualizations.</a:t>
            </a:r>
            <a:endParaRPr sz="23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647697" lvl="1" indent="-323848" algn="just">
              <a:lnSpc>
                <a:spcPct val="140013"/>
              </a:lnSpc>
              <a:buSzPts val="2999"/>
              <a:buFont typeface="Arial"/>
              <a:buChar char="•"/>
            </a:pPr>
            <a:r>
              <a:rPr lang="en-US" sz="2999" b="1" i="0" u="none" strike="noStrike" cap="none" dirty="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 xml:space="preserve">Backend (logic) : </a:t>
            </a:r>
            <a:r>
              <a:rPr lang="en-US" sz="2300" dirty="0">
                <a:latin typeface="Times" panose="02020603050405020304" pitchFamily="18" charset="0"/>
                <a:cs typeface="Times" panose="02020603050405020304" pitchFamily="18" charset="0"/>
              </a:rPr>
              <a:t>A Flask-based REST API that executes high-performance mathematical modeling using NumPy.</a:t>
            </a:r>
            <a:endParaRPr sz="2300" b="1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647697" lvl="1" indent="-323848" algn="just">
              <a:lnSpc>
                <a:spcPct val="140013"/>
              </a:lnSpc>
              <a:buSzPts val="2999"/>
              <a:buFont typeface="Arial"/>
              <a:buChar char="•"/>
            </a:pPr>
            <a:r>
              <a:rPr lang="en-US" sz="2999" b="1" i="0" u="none" strike="noStrike" cap="none" dirty="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 xml:space="preserve">AI model </a:t>
            </a:r>
            <a:r>
              <a:rPr lang="en-US" sz="2300" b="1" i="0" u="none" strike="noStrike" cap="none" dirty="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 xml:space="preserve">: </a:t>
            </a:r>
            <a:r>
              <a:rPr lang="en-US" sz="2300" dirty="0">
                <a:latin typeface="Times" panose="02020603050405020304" pitchFamily="18" charset="0"/>
                <a:cs typeface="Times" panose="02020603050405020304" pitchFamily="18" charset="0"/>
              </a:rPr>
              <a:t xml:space="preserve">Llama-3.1-8b-instant hosted on </a:t>
            </a:r>
            <a:r>
              <a:rPr lang="en-US" sz="2300" dirty="0" err="1">
                <a:latin typeface="Times" panose="02020603050405020304" pitchFamily="18" charset="0"/>
                <a:cs typeface="Times" panose="02020603050405020304" pitchFamily="18" charset="0"/>
              </a:rPr>
              <a:t>Groq</a:t>
            </a:r>
            <a:r>
              <a:rPr lang="en-US" sz="2300" dirty="0">
                <a:latin typeface="Times" panose="02020603050405020304" pitchFamily="18" charset="0"/>
                <a:cs typeface="Times" panose="02020603050405020304" pitchFamily="18" charset="0"/>
              </a:rPr>
              <a:t xml:space="preserve"> for ultra-low latency natural language generation.</a:t>
            </a:r>
            <a:endParaRPr sz="2300" b="1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647697" lvl="1" indent="-323848" algn="just">
              <a:lnSpc>
                <a:spcPct val="140013"/>
              </a:lnSpc>
              <a:buSzPts val="2999"/>
              <a:buFont typeface="Arial"/>
              <a:buChar char="•"/>
            </a:pPr>
            <a:r>
              <a:rPr lang="en-US" sz="2999" b="1" i="0" u="none" strike="noStrike" cap="none" dirty="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 xml:space="preserve">APIs / Database : </a:t>
            </a:r>
            <a:r>
              <a:rPr lang="en-US" sz="2300" dirty="0">
                <a:latin typeface="Times" panose="02020603050405020304" pitchFamily="18" charset="0"/>
                <a:cs typeface="Times" panose="02020603050405020304" pitchFamily="18" charset="0"/>
              </a:rPr>
              <a:t>Flask-CORS for secure communication between the analytical engine and the presentation layer.</a:t>
            </a:r>
            <a:endParaRPr sz="2300" b="1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35" name="Rectangle 134"/>
          <p:cNvSpPr/>
          <p:nvPr/>
        </p:nvSpPr>
        <p:spPr>
          <a:xfrm>
            <a:off x="4670640" y="6200000"/>
            <a:ext cx="2011680" cy="777240"/>
          </a:xfrm>
          <a:prstGeom prst="rect">
            <a:avLst/>
          </a:prstGeom>
          <a:solidFill>
            <a:srgbClr val="1A56DB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👤 USER
Interacts via Browser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6982320" y="6200000"/>
            <a:ext cx="2011680" cy="777240"/>
          </a:xfrm>
          <a:prstGeom prst="rect">
            <a:avLst/>
          </a:prstGeom>
          <a:solidFill>
            <a:srgbClr val="0E749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🖥️ FRONTEND
HTML5 + Chart.js
(Dark UI)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9294000" y="6200000"/>
            <a:ext cx="2011680" cy="777240"/>
          </a:xfrm>
          <a:prstGeom prst="rect">
            <a:avLst/>
          </a:prstGeom>
          <a:solidFill>
            <a:srgbClr val="059669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⚙️ BACKEND
Flask + NumPy
Monte Carlo Engine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11605680" y="6200000"/>
            <a:ext cx="2011680" cy="777240"/>
          </a:xfrm>
          <a:prstGeom prst="rect">
            <a:avLst/>
          </a:prstGeom>
          <a:solidFill>
            <a:srgbClr val="7C3AED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🤖 GROQ AI
Llama 3.1
AI Coach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670640" y="5700000"/>
            <a:ext cx="894672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System Architecture Flow</a:t>
            </a:r>
            <a:r>
              <a:t/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"/>
          <p:cNvSpPr/>
          <p:nvPr/>
        </p:nvSpPr>
        <p:spPr>
          <a:xfrm>
            <a:off x="110225" y="-13648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74701" b="-74701"/>
            </a:stretch>
          </a:blipFill>
          <a:ln>
            <a:noFill/>
          </a:ln>
        </p:spPr>
      </p:sp>
      <p:sp>
        <p:nvSpPr>
          <p:cNvPr id="140" name="Google Shape;140;p5"/>
          <p:cNvSpPr/>
          <p:nvPr/>
        </p:nvSpPr>
        <p:spPr>
          <a:xfrm>
            <a:off x="15368717" y="280342"/>
            <a:ext cx="2394785" cy="663555"/>
          </a:xfrm>
          <a:custGeom>
            <a:avLst/>
            <a:gdLst/>
            <a:ahLst/>
            <a:cxnLst/>
            <a:rect l="l" t="t" r="r" b="b"/>
            <a:pathLst>
              <a:path w="2394785" h="663555" extrusionOk="0">
                <a:moveTo>
                  <a:pt x="0" y="0"/>
                </a:moveTo>
                <a:lnTo>
                  <a:pt x="2394785" y="0"/>
                </a:lnTo>
                <a:lnTo>
                  <a:pt x="2394785" y="663555"/>
                </a:lnTo>
                <a:lnTo>
                  <a:pt x="0" y="6635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41" name="Google Shape;141;p5"/>
          <p:cNvSpPr/>
          <p:nvPr/>
        </p:nvSpPr>
        <p:spPr>
          <a:xfrm>
            <a:off x="273353" y="196765"/>
            <a:ext cx="2690915" cy="806153"/>
          </a:xfrm>
          <a:custGeom>
            <a:avLst/>
            <a:gdLst/>
            <a:ahLst/>
            <a:cxnLst/>
            <a:rect l="l" t="t" r="r" b="b"/>
            <a:pathLst>
              <a:path w="2690915" h="806153" extrusionOk="0">
                <a:moveTo>
                  <a:pt x="0" y="0"/>
                </a:moveTo>
                <a:lnTo>
                  <a:pt x="2690914" y="0"/>
                </a:lnTo>
                <a:lnTo>
                  <a:pt x="2690914" y="806153"/>
                </a:lnTo>
                <a:lnTo>
                  <a:pt x="0" y="8061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42" name="Google Shape;142;p5"/>
          <p:cNvSpPr/>
          <p:nvPr/>
        </p:nvSpPr>
        <p:spPr>
          <a:xfrm>
            <a:off x="10893623" y="280342"/>
            <a:ext cx="4147219" cy="663555"/>
          </a:xfrm>
          <a:custGeom>
            <a:avLst/>
            <a:gdLst/>
            <a:ahLst/>
            <a:cxnLst/>
            <a:rect l="l" t="t" r="r" b="b"/>
            <a:pathLst>
              <a:path w="4147219" h="663555" extrusionOk="0">
                <a:moveTo>
                  <a:pt x="0" y="0"/>
                </a:moveTo>
                <a:lnTo>
                  <a:pt x="4147219" y="0"/>
                </a:lnTo>
                <a:lnTo>
                  <a:pt x="4147219" y="663555"/>
                </a:lnTo>
                <a:lnTo>
                  <a:pt x="0" y="6635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143" name="Google Shape;143;p5"/>
          <p:cNvGrpSpPr/>
          <p:nvPr/>
        </p:nvGrpSpPr>
        <p:grpSpPr>
          <a:xfrm>
            <a:off x="4461177" y="2740087"/>
            <a:ext cx="9365646" cy="4806826"/>
            <a:chOff x="0" y="0"/>
            <a:chExt cx="12487528" cy="6409101"/>
          </a:xfrm>
        </p:grpSpPr>
        <p:sp>
          <p:nvSpPr>
            <p:cNvPr id="144" name="Google Shape;144;p5"/>
            <p:cNvSpPr/>
            <p:nvPr/>
          </p:nvSpPr>
          <p:spPr>
            <a:xfrm>
              <a:off x="0" y="2996179"/>
              <a:ext cx="12487528" cy="3412922"/>
            </a:xfrm>
            <a:custGeom>
              <a:avLst/>
              <a:gdLst/>
              <a:ahLst/>
              <a:cxnLst/>
              <a:rect l="l" t="t" r="r" b="b"/>
              <a:pathLst>
                <a:path w="12487528" h="3412922" extrusionOk="0">
                  <a:moveTo>
                    <a:pt x="0" y="0"/>
                  </a:moveTo>
                  <a:lnTo>
                    <a:pt x="12487528" y="0"/>
                  </a:lnTo>
                  <a:lnTo>
                    <a:pt x="12487528" y="3412922"/>
                  </a:lnTo>
                  <a:lnTo>
                    <a:pt x="0" y="341292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 amt="26400"/>
              </a:blip>
              <a:stretch>
                <a:fillRect l="-4232" t="-139379" r="-3652" b="-155363"/>
              </a:stretch>
            </a:blipFill>
            <a:ln>
              <a:noFill/>
            </a:ln>
          </p:spPr>
        </p:sp>
        <p:sp>
          <p:nvSpPr>
            <p:cNvPr id="145" name="Google Shape;145;p5"/>
            <p:cNvSpPr/>
            <p:nvPr/>
          </p:nvSpPr>
          <p:spPr>
            <a:xfrm>
              <a:off x="458413" y="0"/>
              <a:ext cx="11570701" cy="1851312"/>
            </a:xfrm>
            <a:custGeom>
              <a:avLst/>
              <a:gdLst/>
              <a:ahLst/>
              <a:cxnLst/>
              <a:rect l="l" t="t" r="r" b="b"/>
              <a:pathLst>
                <a:path w="11570701" h="1851312" extrusionOk="0">
                  <a:moveTo>
                    <a:pt x="0" y="0"/>
                  </a:moveTo>
                  <a:lnTo>
                    <a:pt x="11570701" y="0"/>
                  </a:lnTo>
                  <a:lnTo>
                    <a:pt x="11570701" y="1851312"/>
                  </a:lnTo>
                  <a:lnTo>
                    <a:pt x="0" y="185131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 amt="26400"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146" name="Google Shape;146;p5"/>
            <p:cNvSpPr txBox="1"/>
            <p:nvPr/>
          </p:nvSpPr>
          <p:spPr>
            <a:xfrm>
              <a:off x="5462020" y="2180684"/>
              <a:ext cx="1095600" cy="28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3999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7" name="Google Shape;147;p5"/>
          <p:cNvSpPr txBox="1"/>
          <p:nvPr/>
        </p:nvSpPr>
        <p:spPr>
          <a:xfrm>
            <a:off x="413225" y="1231950"/>
            <a:ext cx="16230600" cy="6030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99" b="1" i="0" u="none" strike="noStrike" cap="none" dirty="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Key Features + Tech Stack</a:t>
            </a:r>
            <a:endParaRPr dirty="0"/>
          </a:p>
          <a:p>
            <a:pPr marL="647697" lvl="1" indent="-323849" algn="just">
              <a:lnSpc>
                <a:spcPct val="140013"/>
              </a:lnSpc>
              <a:buSzPts val="2999"/>
              <a:buFont typeface="Arial"/>
              <a:buChar char="•"/>
            </a:pPr>
            <a:r>
              <a:rPr lang="en-US" sz="2999" b="1" i="0" u="none" strike="noStrike" cap="none" dirty="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 xml:space="preserve">Feature 1 (AI-based) : </a:t>
            </a:r>
            <a:r>
              <a:rPr lang="en-US" sz="2100" dirty="0">
                <a:latin typeface="Times" panose="02020603050405020304" pitchFamily="18" charset="0"/>
                <a:cs typeface="Times" panose="02020603050405020304" pitchFamily="18" charset="0"/>
              </a:rPr>
              <a:t>Personalized AI Financial Coaching that explains risk in plain English using the Llama model.</a:t>
            </a:r>
            <a:endParaRPr sz="2100" b="1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647697" lvl="1" indent="-323849" algn="just">
              <a:lnSpc>
                <a:spcPct val="140013"/>
              </a:lnSpc>
              <a:buSzPts val="2999"/>
              <a:buFont typeface="Arial"/>
              <a:buChar char="•"/>
            </a:pPr>
            <a:r>
              <a:rPr lang="en-US" sz="2999" b="1" i="0" u="none" strike="noStrike" cap="none" dirty="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 xml:space="preserve">Feature 2 (automation / prediction) : </a:t>
            </a:r>
            <a:r>
              <a:rPr lang="en-US" sz="2100" dirty="0">
                <a:latin typeface="Times" panose="02020603050405020304" pitchFamily="18" charset="0"/>
                <a:cs typeface="Times" panose="02020603050405020304" pitchFamily="18" charset="0"/>
              </a:rPr>
              <a:t>Automatic generation of 1,000 market paths via NumPy Normal Distribution algorithms.</a:t>
            </a:r>
            <a:endParaRPr sz="2100" b="1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647697" lvl="1" indent="-323849" algn="just">
              <a:lnSpc>
                <a:spcPct val="140013"/>
              </a:lnSpc>
              <a:buSzPts val="2999"/>
              <a:buFont typeface="Arial"/>
              <a:buChar char="•"/>
            </a:pPr>
            <a:r>
              <a:rPr lang="en-US" sz="2999" b="1" i="0" u="none" strike="noStrike" cap="none" dirty="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 xml:space="preserve">Feature 3 (user benefit) : </a:t>
            </a:r>
            <a:r>
              <a:rPr lang="en-US" sz="2100" dirty="0">
                <a:latin typeface="Times" panose="02020603050405020304" pitchFamily="18" charset="0"/>
                <a:cs typeface="Times" panose="02020603050405020304" pitchFamily="18" charset="0"/>
              </a:rPr>
              <a:t>Interactive risk-tolerance sliders that update both statistical charts and AI advice in real-time.</a:t>
            </a:r>
            <a:endParaRPr sz="2100" b="1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647697" marR="0" lvl="1" indent="-323849" algn="just" rtl="0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9"/>
              <a:buFont typeface="Arial"/>
              <a:buChar char="•"/>
            </a:pPr>
            <a:r>
              <a:rPr lang="en-US" sz="2999" b="1" i="0" u="none" strike="noStrike" cap="none" dirty="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 xml:space="preserve">Tech stack: : </a:t>
            </a:r>
            <a:endParaRPr b="1" dirty="0"/>
          </a:p>
          <a:p>
            <a:pPr marL="1295394" lvl="2" indent="-431797" algn="just">
              <a:lnSpc>
                <a:spcPct val="140013"/>
              </a:lnSpc>
              <a:buSzPts val="2999"/>
              <a:buFont typeface="Arial"/>
              <a:buChar char="⚬"/>
            </a:pPr>
            <a:r>
              <a:rPr lang="en-US" sz="2999" b="1" i="0" u="none" strike="noStrike" cap="none" dirty="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 xml:space="preserve">AI/ML : </a:t>
            </a:r>
            <a:r>
              <a:rPr lang="en-US" sz="2100" dirty="0">
                <a:latin typeface="Times" panose="02020603050405020304" pitchFamily="18" charset="0"/>
                <a:cs typeface="Times" panose="02020603050405020304" pitchFamily="18" charset="0"/>
              </a:rPr>
              <a:t xml:space="preserve">Llama-3.1 via </a:t>
            </a:r>
            <a:r>
              <a:rPr lang="en-US" sz="2100" dirty="0" err="1">
                <a:latin typeface="Times" panose="02020603050405020304" pitchFamily="18" charset="0"/>
                <a:cs typeface="Times" panose="02020603050405020304" pitchFamily="18" charset="0"/>
              </a:rPr>
              <a:t>Groq</a:t>
            </a:r>
            <a:r>
              <a:rPr lang="en-US" sz="2100" dirty="0">
                <a:latin typeface="Times" panose="02020603050405020304" pitchFamily="18" charset="0"/>
                <a:cs typeface="Times" panose="02020603050405020304" pitchFamily="18" charset="0"/>
              </a:rPr>
              <a:t xml:space="preserve"> API.</a:t>
            </a:r>
            <a:endParaRPr sz="2100" b="1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1295394" lvl="2" indent="-431797" algn="just">
              <a:lnSpc>
                <a:spcPct val="140013"/>
              </a:lnSpc>
              <a:buSzPts val="2999"/>
              <a:buFont typeface="Arial"/>
              <a:buChar char="⚬"/>
            </a:pPr>
            <a:r>
              <a:rPr lang="en-US" sz="2999" b="1" i="0" u="none" strike="noStrike" cap="none" dirty="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 xml:space="preserve">Backend : </a:t>
            </a:r>
            <a:r>
              <a:rPr lang="en-US" sz="2100" dirty="0">
                <a:latin typeface="Times" panose="02020603050405020304" pitchFamily="18" charset="0"/>
                <a:cs typeface="Times" panose="02020603050405020304" pitchFamily="18" charset="0"/>
              </a:rPr>
              <a:t>Python, Flask, NumPy.</a:t>
            </a:r>
            <a:endParaRPr sz="2100" b="1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1295394" lvl="2" indent="-431797" algn="just">
              <a:lnSpc>
                <a:spcPct val="140013"/>
              </a:lnSpc>
              <a:buSzPts val="2999"/>
              <a:buFont typeface="Arial"/>
              <a:buChar char="⚬"/>
            </a:pPr>
            <a:r>
              <a:rPr lang="en-US" sz="2999" b="1" i="0" u="none" strike="noStrike" cap="none" dirty="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 xml:space="preserve">Frontend : </a:t>
            </a:r>
            <a:r>
              <a:rPr lang="en-US" sz="2100" dirty="0">
                <a:latin typeface="Times" panose="02020603050405020304" pitchFamily="18" charset="0"/>
                <a:cs typeface="Times" panose="02020603050405020304" pitchFamily="18" charset="0"/>
              </a:rPr>
              <a:t>HTML5, CSS3, JavaScript, Chart.js.</a:t>
            </a:r>
            <a:endParaRPr sz="2100" b="1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1295394" lvl="2" indent="-431797" algn="just">
              <a:lnSpc>
                <a:spcPct val="140013"/>
              </a:lnSpc>
              <a:buSzPts val="2999"/>
              <a:buFont typeface="Arial"/>
              <a:buChar char="⚬"/>
            </a:pPr>
            <a:r>
              <a:rPr lang="en-US" sz="2999" b="1" i="0" u="none" strike="noStrike" cap="none" dirty="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 xml:space="preserve">APIs : </a:t>
            </a:r>
            <a:r>
              <a:rPr lang="en-US" sz="2100" dirty="0" err="1">
                <a:latin typeface="Times" panose="02020603050405020304" pitchFamily="18" charset="0"/>
                <a:cs typeface="Times" panose="02020603050405020304" pitchFamily="18" charset="0"/>
              </a:rPr>
              <a:t>Groq</a:t>
            </a:r>
            <a:r>
              <a:rPr lang="en-US" sz="2100" dirty="0">
                <a:latin typeface="Times" panose="02020603050405020304" pitchFamily="18" charset="0"/>
                <a:cs typeface="Times" panose="02020603050405020304" pitchFamily="18" charset="0"/>
              </a:rPr>
              <a:t xml:space="preserve"> Inference API, Flask REST API.</a:t>
            </a:r>
            <a:endParaRPr sz="2100" b="1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74701" b="-74701"/>
            </a:stretch>
          </a:blipFill>
          <a:ln>
            <a:noFill/>
          </a:ln>
        </p:spPr>
      </p:sp>
      <p:sp>
        <p:nvSpPr>
          <p:cNvPr id="153" name="Google Shape;153;p6"/>
          <p:cNvSpPr/>
          <p:nvPr/>
        </p:nvSpPr>
        <p:spPr>
          <a:xfrm>
            <a:off x="15368717" y="280342"/>
            <a:ext cx="2394785" cy="663555"/>
          </a:xfrm>
          <a:custGeom>
            <a:avLst/>
            <a:gdLst/>
            <a:ahLst/>
            <a:cxnLst/>
            <a:rect l="l" t="t" r="r" b="b"/>
            <a:pathLst>
              <a:path w="2394785" h="663555" extrusionOk="0">
                <a:moveTo>
                  <a:pt x="0" y="0"/>
                </a:moveTo>
                <a:lnTo>
                  <a:pt x="2394785" y="0"/>
                </a:lnTo>
                <a:lnTo>
                  <a:pt x="2394785" y="663555"/>
                </a:lnTo>
                <a:lnTo>
                  <a:pt x="0" y="6635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54" name="Google Shape;154;p6"/>
          <p:cNvSpPr/>
          <p:nvPr/>
        </p:nvSpPr>
        <p:spPr>
          <a:xfrm>
            <a:off x="273353" y="196765"/>
            <a:ext cx="2690915" cy="806153"/>
          </a:xfrm>
          <a:custGeom>
            <a:avLst/>
            <a:gdLst/>
            <a:ahLst/>
            <a:cxnLst/>
            <a:rect l="l" t="t" r="r" b="b"/>
            <a:pathLst>
              <a:path w="2690915" h="806153" extrusionOk="0">
                <a:moveTo>
                  <a:pt x="0" y="0"/>
                </a:moveTo>
                <a:lnTo>
                  <a:pt x="2690914" y="0"/>
                </a:lnTo>
                <a:lnTo>
                  <a:pt x="2690914" y="806153"/>
                </a:lnTo>
                <a:lnTo>
                  <a:pt x="0" y="8061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55" name="Google Shape;155;p6"/>
          <p:cNvSpPr/>
          <p:nvPr/>
        </p:nvSpPr>
        <p:spPr>
          <a:xfrm>
            <a:off x="10893623" y="280342"/>
            <a:ext cx="4147219" cy="663555"/>
          </a:xfrm>
          <a:custGeom>
            <a:avLst/>
            <a:gdLst/>
            <a:ahLst/>
            <a:cxnLst/>
            <a:rect l="l" t="t" r="r" b="b"/>
            <a:pathLst>
              <a:path w="4147219" h="663555" extrusionOk="0">
                <a:moveTo>
                  <a:pt x="0" y="0"/>
                </a:moveTo>
                <a:lnTo>
                  <a:pt x="4147219" y="0"/>
                </a:lnTo>
                <a:lnTo>
                  <a:pt x="4147219" y="663555"/>
                </a:lnTo>
                <a:lnTo>
                  <a:pt x="0" y="6635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156" name="Google Shape;156;p6"/>
          <p:cNvGrpSpPr/>
          <p:nvPr/>
        </p:nvGrpSpPr>
        <p:grpSpPr>
          <a:xfrm>
            <a:off x="4461177" y="2740087"/>
            <a:ext cx="9365646" cy="4806826"/>
            <a:chOff x="0" y="0"/>
            <a:chExt cx="12487528" cy="6409101"/>
          </a:xfrm>
        </p:grpSpPr>
        <p:sp>
          <p:nvSpPr>
            <p:cNvPr id="157" name="Google Shape;157;p6"/>
            <p:cNvSpPr/>
            <p:nvPr/>
          </p:nvSpPr>
          <p:spPr>
            <a:xfrm>
              <a:off x="0" y="2996179"/>
              <a:ext cx="12487528" cy="3412922"/>
            </a:xfrm>
            <a:custGeom>
              <a:avLst/>
              <a:gdLst/>
              <a:ahLst/>
              <a:cxnLst/>
              <a:rect l="l" t="t" r="r" b="b"/>
              <a:pathLst>
                <a:path w="12487528" h="3412922" extrusionOk="0">
                  <a:moveTo>
                    <a:pt x="0" y="0"/>
                  </a:moveTo>
                  <a:lnTo>
                    <a:pt x="12487528" y="0"/>
                  </a:lnTo>
                  <a:lnTo>
                    <a:pt x="12487528" y="3412922"/>
                  </a:lnTo>
                  <a:lnTo>
                    <a:pt x="0" y="341292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 amt="26400"/>
              </a:blip>
              <a:stretch>
                <a:fillRect l="-4232" t="-139379" r="-3652" b="-155363"/>
              </a:stretch>
            </a:blipFill>
            <a:ln>
              <a:noFill/>
            </a:ln>
          </p:spPr>
        </p:sp>
        <p:sp>
          <p:nvSpPr>
            <p:cNvPr id="158" name="Google Shape;158;p6"/>
            <p:cNvSpPr/>
            <p:nvPr/>
          </p:nvSpPr>
          <p:spPr>
            <a:xfrm>
              <a:off x="458413" y="0"/>
              <a:ext cx="11570701" cy="1851312"/>
            </a:xfrm>
            <a:custGeom>
              <a:avLst/>
              <a:gdLst/>
              <a:ahLst/>
              <a:cxnLst/>
              <a:rect l="l" t="t" r="r" b="b"/>
              <a:pathLst>
                <a:path w="11570701" h="1851312" extrusionOk="0">
                  <a:moveTo>
                    <a:pt x="0" y="0"/>
                  </a:moveTo>
                  <a:lnTo>
                    <a:pt x="11570701" y="0"/>
                  </a:lnTo>
                  <a:lnTo>
                    <a:pt x="11570701" y="1851312"/>
                  </a:lnTo>
                  <a:lnTo>
                    <a:pt x="0" y="185131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 amt="26400"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159" name="Google Shape;159;p6"/>
            <p:cNvSpPr txBox="1"/>
            <p:nvPr/>
          </p:nvSpPr>
          <p:spPr>
            <a:xfrm>
              <a:off x="5462020" y="2180684"/>
              <a:ext cx="1095600" cy="28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3999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0" name="Google Shape;160;p6"/>
          <p:cNvSpPr txBox="1"/>
          <p:nvPr/>
        </p:nvSpPr>
        <p:spPr>
          <a:xfrm>
            <a:off x="413225" y="1231947"/>
            <a:ext cx="16230600" cy="5233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99" b="1" i="0" u="none" strike="noStrike" cap="none" dirty="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Impact &amp; Benefits</a:t>
            </a:r>
            <a:endParaRPr b="1" dirty="0"/>
          </a:p>
          <a:p>
            <a:pPr marL="647697" lvl="1" indent="-323848" algn="just">
              <a:lnSpc>
                <a:spcPct val="140013"/>
              </a:lnSpc>
              <a:buSzPts val="2999"/>
              <a:buFont typeface="Arial"/>
              <a:buChar char="•"/>
            </a:pPr>
            <a:r>
              <a:rPr lang="en-US" sz="2999" b="1" i="0" u="none" strike="noStrike" cap="none" dirty="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 xml:space="preserve">Impact on users (traders, investors, etc.) : </a:t>
            </a:r>
            <a:r>
              <a:rPr lang="en-US" sz="2200" dirty="0">
                <a:latin typeface="Times" panose="02020603050405020304" pitchFamily="18" charset="0"/>
                <a:cs typeface="Times" panose="02020603050405020304" pitchFamily="18" charset="0"/>
              </a:rPr>
              <a:t>Empowers retail investors to overcome psychological barriers and make data-backed investment decisions.</a:t>
            </a:r>
            <a:endParaRPr sz="2200" b="1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647697" marR="0" lvl="1" indent="-323848" algn="just" rtl="0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9"/>
              <a:buFont typeface="Arial"/>
              <a:buChar char="•"/>
            </a:pPr>
            <a:r>
              <a:rPr lang="en-US" sz="2999" b="1" i="0" u="none" strike="noStrike" cap="none" dirty="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 xml:space="preserve">Benefits: </a:t>
            </a:r>
            <a:endParaRPr b="1" dirty="0"/>
          </a:p>
          <a:p>
            <a:pPr marL="1295394" lvl="2" indent="-431798" algn="just">
              <a:lnSpc>
                <a:spcPct val="140013"/>
              </a:lnSpc>
              <a:buSzPts val="2999"/>
              <a:buFont typeface="Arial"/>
              <a:buChar char="⚬"/>
            </a:pPr>
            <a:r>
              <a:rPr lang="en-US" sz="2999" b="1" i="0" u="none" strike="noStrike" cap="none" dirty="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 xml:space="preserve">Speed : </a:t>
            </a:r>
            <a:r>
              <a:rPr lang="en-US" sz="2200" dirty="0" err="1">
                <a:latin typeface="Times" panose="02020603050405020304" pitchFamily="18" charset="0"/>
                <a:cs typeface="Times" panose="02020603050405020304" pitchFamily="18" charset="0"/>
              </a:rPr>
              <a:t>Groq</a:t>
            </a:r>
            <a:r>
              <a:rPr lang="en-US" sz="2200" dirty="0">
                <a:latin typeface="Times" panose="02020603050405020304" pitchFamily="18" charset="0"/>
                <a:cs typeface="Times" panose="02020603050405020304" pitchFamily="18" charset="0"/>
              </a:rPr>
              <a:t xml:space="preserve"> integration ensures AI insights are generated in under 800ms.</a:t>
            </a:r>
            <a:endParaRPr sz="2200" b="1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1295394" lvl="2" indent="-431798" algn="just">
              <a:lnSpc>
                <a:spcPct val="140013"/>
              </a:lnSpc>
              <a:buSzPts val="2999"/>
              <a:buFont typeface="Arial"/>
              <a:buChar char="⚬"/>
            </a:pPr>
            <a:r>
              <a:rPr lang="en-US" sz="2999" b="1" i="0" u="none" strike="noStrike" cap="none" dirty="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 xml:space="preserve">Accuracy : </a:t>
            </a:r>
            <a:r>
              <a:rPr lang="en-US" sz="2200" dirty="0">
                <a:latin typeface="Times" panose="02020603050405020304" pitchFamily="18" charset="0"/>
                <a:cs typeface="Times" panose="02020603050405020304" pitchFamily="18" charset="0"/>
              </a:rPr>
              <a:t>Uses true statistical medians and deep-risk (bottom 5%) metrics rather than simple averages.</a:t>
            </a:r>
            <a:endParaRPr sz="2200" b="1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1295394" lvl="2" indent="-431798" algn="just">
              <a:lnSpc>
                <a:spcPct val="140013"/>
              </a:lnSpc>
              <a:buSzPts val="2999"/>
              <a:buFont typeface="Arial"/>
              <a:buChar char="⚬"/>
            </a:pPr>
            <a:r>
              <a:rPr lang="en-US" sz="2999" b="1" i="0" u="none" strike="noStrike" cap="none" dirty="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 xml:space="preserve">Cost reduction : </a:t>
            </a:r>
            <a:r>
              <a:rPr lang="en-US" sz="2200" dirty="0">
                <a:latin typeface="Times" panose="02020603050405020304" pitchFamily="18" charset="0"/>
                <a:cs typeface="Times" panose="02020603050405020304" pitchFamily="18" charset="0"/>
              </a:rPr>
              <a:t>Provides high-level advisory insights that typically require expensive human financial planners.</a:t>
            </a:r>
            <a:endParaRPr sz="2200" b="1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1295394" lvl="2" indent="-431798" algn="just">
              <a:lnSpc>
                <a:spcPct val="140013"/>
              </a:lnSpc>
              <a:buSzPts val="2999"/>
              <a:buFont typeface="Arial"/>
              <a:buChar char="⚬"/>
            </a:pPr>
            <a:r>
              <a:rPr lang="en-US" sz="2999" b="1" i="0" u="none" strike="noStrike" cap="none" dirty="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 xml:space="preserve">Real-world application : </a:t>
            </a:r>
            <a:r>
              <a:rPr lang="en-US" sz="2200" dirty="0">
                <a:latin typeface="Times" panose="02020603050405020304" pitchFamily="18" charset="0"/>
                <a:cs typeface="Times" panose="02020603050405020304" pitchFamily="18" charset="0"/>
              </a:rPr>
              <a:t>Scalable as an educational onboarding tool for brokerage platforms to mitigate investor churn.</a:t>
            </a:r>
            <a:endParaRPr sz="2200" b="1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7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74701" b="-74701"/>
            </a:stretch>
          </a:blipFill>
          <a:ln>
            <a:noFill/>
          </a:ln>
        </p:spPr>
      </p:sp>
      <p:sp>
        <p:nvSpPr>
          <p:cNvPr id="166" name="Google Shape;166;p7"/>
          <p:cNvSpPr/>
          <p:nvPr/>
        </p:nvSpPr>
        <p:spPr>
          <a:xfrm>
            <a:off x="15368717" y="280342"/>
            <a:ext cx="2394785" cy="663555"/>
          </a:xfrm>
          <a:custGeom>
            <a:avLst/>
            <a:gdLst/>
            <a:ahLst/>
            <a:cxnLst/>
            <a:rect l="l" t="t" r="r" b="b"/>
            <a:pathLst>
              <a:path w="2394785" h="663555" extrusionOk="0">
                <a:moveTo>
                  <a:pt x="0" y="0"/>
                </a:moveTo>
                <a:lnTo>
                  <a:pt x="2394785" y="0"/>
                </a:lnTo>
                <a:lnTo>
                  <a:pt x="2394785" y="663555"/>
                </a:lnTo>
                <a:lnTo>
                  <a:pt x="0" y="6635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67" name="Google Shape;167;p7"/>
          <p:cNvSpPr/>
          <p:nvPr/>
        </p:nvSpPr>
        <p:spPr>
          <a:xfrm>
            <a:off x="273353" y="196765"/>
            <a:ext cx="2690915" cy="806153"/>
          </a:xfrm>
          <a:custGeom>
            <a:avLst/>
            <a:gdLst/>
            <a:ahLst/>
            <a:cxnLst/>
            <a:rect l="l" t="t" r="r" b="b"/>
            <a:pathLst>
              <a:path w="2690915" h="806153" extrusionOk="0">
                <a:moveTo>
                  <a:pt x="0" y="0"/>
                </a:moveTo>
                <a:lnTo>
                  <a:pt x="2690914" y="0"/>
                </a:lnTo>
                <a:lnTo>
                  <a:pt x="2690914" y="806153"/>
                </a:lnTo>
                <a:lnTo>
                  <a:pt x="0" y="8061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68" name="Google Shape;168;p7"/>
          <p:cNvSpPr/>
          <p:nvPr/>
        </p:nvSpPr>
        <p:spPr>
          <a:xfrm>
            <a:off x="10893623" y="280342"/>
            <a:ext cx="4147219" cy="663555"/>
          </a:xfrm>
          <a:custGeom>
            <a:avLst/>
            <a:gdLst/>
            <a:ahLst/>
            <a:cxnLst/>
            <a:rect l="l" t="t" r="r" b="b"/>
            <a:pathLst>
              <a:path w="4147219" h="663555" extrusionOk="0">
                <a:moveTo>
                  <a:pt x="0" y="0"/>
                </a:moveTo>
                <a:lnTo>
                  <a:pt x="4147219" y="0"/>
                </a:lnTo>
                <a:lnTo>
                  <a:pt x="4147219" y="663555"/>
                </a:lnTo>
                <a:lnTo>
                  <a:pt x="0" y="6635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169" name="Google Shape;169;p7"/>
          <p:cNvGrpSpPr/>
          <p:nvPr/>
        </p:nvGrpSpPr>
        <p:grpSpPr>
          <a:xfrm>
            <a:off x="4461177" y="2740087"/>
            <a:ext cx="9365646" cy="4806826"/>
            <a:chOff x="0" y="0"/>
            <a:chExt cx="12487528" cy="6409101"/>
          </a:xfrm>
        </p:grpSpPr>
        <p:sp>
          <p:nvSpPr>
            <p:cNvPr id="170" name="Google Shape;170;p7"/>
            <p:cNvSpPr/>
            <p:nvPr/>
          </p:nvSpPr>
          <p:spPr>
            <a:xfrm>
              <a:off x="0" y="2996179"/>
              <a:ext cx="12487528" cy="3412922"/>
            </a:xfrm>
            <a:custGeom>
              <a:avLst/>
              <a:gdLst/>
              <a:ahLst/>
              <a:cxnLst/>
              <a:rect l="l" t="t" r="r" b="b"/>
              <a:pathLst>
                <a:path w="12487528" h="3412922" extrusionOk="0">
                  <a:moveTo>
                    <a:pt x="0" y="0"/>
                  </a:moveTo>
                  <a:lnTo>
                    <a:pt x="12487528" y="0"/>
                  </a:lnTo>
                  <a:lnTo>
                    <a:pt x="12487528" y="3412922"/>
                  </a:lnTo>
                  <a:lnTo>
                    <a:pt x="0" y="341292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 amt="26400"/>
              </a:blip>
              <a:stretch>
                <a:fillRect l="-4232" t="-139379" r="-3652" b="-155363"/>
              </a:stretch>
            </a:blipFill>
            <a:ln>
              <a:noFill/>
            </a:ln>
          </p:spPr>
        </p:sp>
        <p:sp>
          <p:nvSpPr>
            <p:cNvPr id="171" name="Google Shape;171;p7"/>
            <p:cNvSpPr/>
            <p:nvPr/>
          </p:nvSpPr>
          <p:spPr>
            <a:xfrm>
              <a:off x="458413" y="0"/>
              <a:ext cx="11570701" cy="1851312"/>
            </a:xfrm>
            <a:custGeom>
              <a:avLst/>
              <a:gdLst/>
              <a:ahLst/>
              <a:cxnLst/>
              <a:rect l="l" t="t" r="r" b="b"/>
              <a:pathLst>
                <a:path w="11570701" h="1851312" extrusionOk="0">
                  <a:moveTo>
                    <a:pt x="0" y="0"/>
                  </a:moveTo>
                  <a:lnTo>
                    <a:pt x="11570701" y="0"/>
                  </a:lnTo>
                  <a:lnTo>
                    <a:pt x="11570701" y="1851312"/>
                  </a:lnTo>
                  <a:lnTo>
                    <a:pt x="0" y="185131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 amt="26400"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172" name="Google Shape;172;p7"/>
            <p:cNvSpPr txBox="1"/>
            <p:nvPr/>
          </p:nvSpPr>
          <p:spPr>
            <a:xfrm>
              <a:off x="5462020" y="2180684"/>
              <a:ext cx="1095600" cy="28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3999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3" name="Google Shape;173;p7"/>
          <p:cNvSpPr txBox="1"/>
          <p:nvPr/>
        </p:nvSpPr>
        <p:spPr>
          <a:xfrm>
            <a:off x="413225" y="1231947"/>
            <a:ext cx="16230600" cy="5665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99" b="1" i="0" u="none" strike="noStrike" cap="none" dirty="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Challenges + Feasibility</a:t>
            </a:r>
            <a:endParaRPr b="1" dirty="0"/>
          </a:p>
          <a:p>
            <a:pPr marL="647697" lvl="1" indent="-323848" algn="just">
              <a:lnSpc>
                <a:spcPct val="140013"/>
              </a:lnSpc>
              <a:buSzPts val="2999"/>
              <a:buFont typeface="Arial"/>
              <a:buChar char="•"/>
            </a:pPr>
            <a:r>
              <a:rPr lang="en-US" sz="2999" b="1" i="0" u="none" strike="noStrike" cap="none" dirty="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 xml:space="preserve">Challenge 1 → </a:t>
            </a:r>
            <a:r>
              <a:rPr lang="en-US" sz="2999" b="1" dirty="0">
                <a:latin typeface="Times"/>
                <a:ea typeface="Times"/>
                <a:cs typeface="Times"/>
                <a:sym typeface="Times"/>
              </a:rPr>
              <a:t>S</a:t>
            </a:r>
            <a:r>
              <a:rPr lang="en-US" sz="2999" b="1" i="0" u="none" strike="noStrike" cap="none" dirty="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 xml:space="preserve">olution : </a:t>
            </a:r>
            <a:r>
              <a:rPr lang="en-US" sz="2600" dirty="0">
                <a:latin typeface="Times" panose="02020603050405020304" pitchFamily="18" charset="0"/>
                <a:cs typeface="Times" panose="02020603050405020304" pitchFamily="18" charset="0"/>
              </a:rPr>
              <a:t xml:space="preserve">API Rate Limiting; we pivoted to </a:t>
            </a:r>
            <a:r>
              <a:rPr lang="en-US" sz="2600" dirty="0" err="1">
                <a:latin typeface="Times" panose="02020603050405020304" pitchFamily="18" charset="0"/>
                <a:cs typeface="Times" panose="02020603050405020304" pitchFamily="18" charset="0"/>
              </a:rPr>
              <a:t>Groq’s</a:t>
            </a:r>
            <a:r>
              <a:rPr lang="en-US" sz="2600" dirty="0">
                <a:latin typeface="Times" panose="02020603050405020304" pitchFamily="18" charset="0"/>
                <a:cs typeface="Times" panose="02020603050405020304" pitchFamily="18" charset="0"/>
              </a:rPr>
              <a:t xml:space="preserve"> high-speed infrastructure to bypass standard quota bottlenecks.</a:t>
            </a:r>
            <a:endParaRPr sz="2600" b="1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647697" lvl="1" indent="-323848" algn="just">
              <a:lnSpc>
                <a:spcPct val="140013"/>
              </a:lnSpc>
              <a:buSzPts val="2999"/>
              <a:buFont typeface="Arial"/>
              <a:buChar char="•"/>
            </a:pPr>
            <a:r>
              <a:rPr lang="en-US" sz="2999" b="1" i="0" u="none" strike="noStrike" cap="none" dirty="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 xml:space="preserve">Challenge 2 → </a:t>
            </a:r>
            <a:r>
              <a:rPr lang="en-US" sz="2999" b="1" dirty="0">
                <a:latin typeface="Times"/>
                <a:ea typeface="Times"/>
                <a:cs typeface="Times"/>
                <a:sym typeface="Times"/>
              </a:rPr>
              <a:t>F</a:t>
            </a:r>
            <a:r>
              <a:rPr lang="en-US" sz="2999" b="1" i="0" u="none" strike="noStrike" cap="none" dirty="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ix :</a:t>
            </a:r>
            <a:r>
              <a:rPr lang="en-US" sz="2600" b="1" i="0" u="none" strike="noStrike" cap="none" dirty="0">
                <a:solidFill>
                  <a:srgbClr val="000000"/>
                </a:solidFill>
                <a:latin typeface="Times" panose="02020603050405020304" pitchFamily="18" charset="0"/>
                <a:ea typeface="Times"/>
                <a:cs typeface="Times" panose="02020603050405020304" pitchFamily="18" charset="0"/>
                <a:sym typeface="Times"/>
              </a:rPr>
              <a:t xml:space="preserve"> </a:t>
            </a:r>
            <a:r>
              <a:rPr lang="en-US" sz="2600" dirty="0">
                <a:latin typeface="Times" panose="02020603050405020304" pitchFamily="18" charset="0"/>
                <a:cs typeface="Times" panose="02020603050405020304" pitchFamily="18" charset="0"/>
              </a:rPr>
              <a:t>LLM Safety Blocks; prompts were engineered to position the AI as an "educational coach" to ensure compliance with financial advice filters.</a:t>
            </a:r>
            <a:endParaRPr sz="2600" b="1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647697" lvl="1" indent="-323848" algn="just">
              <a:lnSpc>
                <a:spcPct val="140013"/>
              </a:lnSpc>
              <a:buSzPts val="2999"/>
              <a:buFont typeface="Arial"/>
              <a:buChar char="•"/>
            </a:pPr>
            <a:r>
              <a:rPr lang="en-US" sz="2999" b="1" i="0" u="none" strike="noStrike" cap="none" dirty="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 xml:space="preserve">Technical </a:t>
            </a:r>
            <a:r>
              <a:rPr lang="en-US" sz="2999" b="1" dirty="0">
                <a:latin typeface="Times"/>
                <a:ea typeface="Times"/>
                <a:cs typeface="Times"/>
                <a:sym typeface="Times"/>
              </a:rPr>
              <a:t>F</a:t>
            </a:r>
            <a:r>
              <a:rPr lang="en-US" sz="2999" b="1" i="0" u="none" strike="noStrike" cap="none" dirty="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 xml:space="preserve">easibility : </a:t>
            </a:r>
            <a:r>
              <a:rPr lang="en-US" sz="2600" dirty="0">
                <a:latin typeface="Times" panose="02020603050405020304" pitchFamily="18" charset="0"/>
                <a:cs typeface="Times" panose="02020603050405020304" pitchFamily="18" charset="0"/>
              </a:rPr>
              <a:t>Highly feasible as it relies on lightweight Python frameworks and efficient open-source AI models.</a:t>
            </a:r>
            <a:endParaRPr sz="2600" b="1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647697" lvl="1" indent="-323848" algn="just">
              <a:lnSpc>
                <a:spcPct val="140013"/>
              </a:lnSpc>
              <a:buSzPts val="2999"/>
              <a:buFont typeface="Arial"/>
              <a:buChar char="•"/>
            </a:pPr>
            <a:r>
              <a:rPr lang="en-US" sz="2999" b="1" i="0" u="none" strike="noStrike" cap="none" dirty="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 xml:space="preserve">Scalability : </a:t>
            </a:r>
            <a:r>
              <a:rPr lang="en-US" sz="2600" dirty="0">
                <a:latin typeface="Times" panose="02020603050405020304" pitchFamily="18" charset="0"/>
                <a:cs typeface="Times" panose="02020603050405020304" pitchFamily="18" charset="0"/>
              </a:rPr>
              <a:t>The stateless Flask architecture allows the application to handle high concurrent user loads with minimal overhead.</a:t>
            </a:r>
            <a:endParaRPr sz="2600" b="1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8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74701" b="-74701"/>
            </a:stretch>
          </a:blipFill>
          <a:ln>
            <a:noFill/>
          </a:ln>
        </p:spPr>
      </p:sp>
      <p:sp>
        <p:nvSpPr>
          <p:cNvPr id="179" name="Google Shape;179;p8"/>
          <p:cNvSpPr/>
          <p:nvPr/>
        </p:nvSpPr>
        <p:spPr>
          <a:xfrm>
            <a:off x="15368717" y="280342"/>
            <a:ext cx="2394785" cy="663555"/>
          </a:xfrm>
          <a:custGeom>
            <a:avLst/>
            <a:gdLst/>
            <a:ahLst/>
            <a:cxnLst/>
            <a:rect l="l" t="t" r="r" b="b"/>
            <a:pathLst>
              <a:path w="2394785" h="663555" extrusionOk="0">
                <a:moveTo>
                  <a:pt x="0" y="0"/>
                </a:moveTo>
                <a:lnTo>
                  <a:pt x="2394785" y="0"/>
                </a:lnTo>
                <a:lnTo>
                  <a:pt x="2394785" y="663555"/>
                </a:lnTo>
                <a:lnTo>
                  <a:pt x="0" y="6635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80" name="Google Shape;180;p8"/>
          <p:cNvSpPr/>
          <p:nvPr/>
        </p:nvSpPr>
        <p:spPr>
          <a:xfrm>
            <a:off x="273353" y="196765"/>
            <a:ext cx="2690915" cy="806153"/>
          </a:xfrm>
          <a:custGeom>
            <a:avLst/>
            <a:gdLst/>
            <a:ahLst/>
            <a:cxnLst/>
            <a:rect l="l" t="t" r="r" b="b"/>
            <a:pathLst>
              <a:path w="2690915" h="806153" extrusionOk="0">
                <a:moveTo>
                  <a:pt x="0" y="0"/>
                </a:moveTo>
                <a:lnTo>
                  <a:pt x="2690914" y="0"/>
                </a:lnTo>
                <a:lnTo>
                  <a:pt x="2690914" y="806153"/>
                </a:lnTo>
                <a:lnTo>
                  <a:pt x="0" y="8061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81" name="Google Shape;181;p8"/>
          <p:cNvSpPr/>
          <p:nvPr/>
        </p:nvSpPr>
        <p:spPr>
          <a:xfrm>
            <a:off x="10893623" y="280342"/>
            <a:ext cx="4147219" cy="663555"/>
          </a:xfrm>
          <a:custGeom>
            <a:avLst/>
            <a:gdLst/>
            <a:ahLst/>
            <a:cxnLst/>
            <a:rect l="l" t="t" r="r" b="b"/>
            <a:pathLst>
              <a:path w="4147219" h="663555" extrusionOk="0">
                <a:moveTo>
                  <a:pt x="0" y="0"/>
                </a:moveTo>
                <a:lnTo>
                  <a:pt x="4147219" y="0"/>
                </a:lnTo>
                <a:lnTo>
                  <a:pt x="4147219" y="663555"/>
                </a:lnTo>
                <a:lnTo>
                  <a:pt x="0" y="6635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182" name="Google Shape;182;p8"/>
          <p:cNvGrpSpPr/>
          <p:nvPr/>
        </p:nvGrpSpPr>
        <p:grpSpPr>
          <a:xfrm>
            <a:off x="4461177" y="2740087"/>
            <a:ext cx="9365646" cy="4806826"/>
            <a:chOff x="0" y="0"/>
            <a:chExt cx="12487528" cy="6409101"/>
          </a:xfrm>
        </p:grpSpPr>
        <p:sp>
          <p:nvSpPr>
            <p:cNvPr id="183" name="Google Shape;183;p8"/>
            <p:cNvSpPr/>
            <p:nvPr/>
          </p:nvSpPr>
          <p:spPr>
            <a:xfrm>
              <a:off x="0" y="2996179"/>
              <a:ext cx="12487528" cy="3412922"/>
            </a:xfrm>
            <a:custGeom>
              <a:avLst/>
              <a:gdLst/>
              <a:ahLst/>
              <a:cxnLst/>
              <a:rect l="l" t="t" r="r" b="b"/>
              <a:pathLst>
                <a:path w="12487528" h="3412922" extrusionOk="0">
                  <a:moveTo>
                    <a:pt x="0" y="0"/>
                  </a:moveTo>
                  <a:lnTo>
                    <a:pt x="12487528" y="0"/>
                  </a:lnTo>
                  <a:lnTo>
                    <a:pt x="12487528" y="3412922"/>
                  </a:lnTo>
                  <a:lnTo>
                    <a:pt x="0" y="341292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 amt="26400"/>
              </a:blip>
              <a:stretch>
                <a:fillRect l="-4232" t="-139379" r="-3652" b="-155363"/>
              </a:stretch>
            </a:blipFill>
            <a:ln>
              <a:noFill/>
            </a:ln>
          </p:spPr>
        </p:sp>
        <p:sp>
          <p:nvSpPr>
            <p:cNvPr id="184" name="Google Shape;184;p8"/>
            <p:cNvSpPr/>
            <p:nvPr/>
          </p:nvSpPr>
          <p:spPr>
            <a:xfrm>
              <a:off x="458413" y="0"/>
              <a:ext cx="11570701" cy="1851312"/>
            </a:xfrm>
            <a:custGeom>
              <a:avLst/>
              <a:gdLst/>
              <a:ahLst/>
              <a:cxnLst/>
              <a:rect l="l" t="t" r="r" b="b"/>
              <a:pathLst>
                <a:path w="11570701" h="1851312" extrusionOk="0">
                  <a:moveTo>
                    <a:pt x="0" y="0"/>
                  </a:moveTo>
                  <a:lnTo>
                    <a:pt x="11570701" y="0"/>
                  </a:lnTo>
                  <a:lnTo>
                    <a:pt x="11570701" y="1851312"/>
                  </a:lnTo>
                  <a:lnTo>
                    <a:pt x="0" y="185131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 amt="26400"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185" name="Google Shape;185;p8"/>
            <p:cNvSpPr txBox="1"/>
            <p:nvPr/>
          </p:nvSpPr>
          <p:spPr>
            <a:xfrm>
              <a:off x="5462020" y="2180684"/>
              <a:ext cx="1095600" cy="28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3999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6" name="Google Shape;186;p8"/>
          <p:cNvSpPr txBox="1"/>
          <p:nvPr/>
        </p:nvSpPr>
        <p:spPr>
          <a:xfrm>
            <a:off x="413225" y="1231946"/>
            <a:ext cx="16230600" cy="5126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99" b="1" i="0" u="none" strike="noStrike" cap="none" dirty="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Future Scope</a:t>
            </a:r>
            <a:endParaRPr b="1" dirty="0"/>
          </a:p>
          <a:p>
            <a:pPr marL="647697" lvl="1" indent="-323848" algn="just">
              <a:lnSpc>
                <a:spcPct val="140013"/>
              </a:lnSpc>
              <a:buSzPts val="2999"/>
              <a:buFont typeface="Arial"/>
              <a:buChar char="•"/>
            </a:pPr>
            <a:r>
              <a:rPr lang="en-US" sz="2999" b="1" i="0" u="none" strike="noStrike" cap="none" dirty="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 xml:space="preserve">Future improvements : </a:t>
            </a:r>
            <a:r>
              <a:rPr lang="en-US" sz="2600" dirty="0">
                <a:latin typeface="Times" panose="02020603050405020304" pitchFamily="18" charset="0"/>
                <a:cs typeface="Times" panose="02020603050405020304" pitchFamily="18" charset="0"/>
              </a:rPr>
              <a:t xml:space="preserve">Integration of live market data using </a:t>
            </a:r>
            <a:r>
              <a:rPr lang="en-US" sz="2600" dirty="0" err="1">
                <a:latin typeface="Times" panose="02020603050405020304" pitchFamily="18" charset="0"/>
                <a:cs typeface="Times" panose="02020603050405020304" pitchFamily="18" charset="0"/>
              </a:rPr>
              <a:t>Finvasia’s</a:t>
            </a:r>
            <a:r>
              <a:rPr lang="en-US" sz="2600" dirty="0">
                <a:latin typeface="Times" panose="02020603050405020304" pitchFamily="18" charset="0"/>
                <a:cs typeface="Times" panose="02020603050405020304" pitchFamily="18" charset="0"/>
              </a:rPr>
              <a:t xml:space="preserve"> trading APIs to replace static volatility assumptions.</a:t>
            </a:r>
            <a:endParaRPr sz="2600" b="1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647697" lvl="1" indent="-323848" algn="just">
              <a:lnSpc>
                <a:spcPct val="140013"/>
              </a:lnSpc>
              <a:buSzPts val="2999"/>
              <a:buFont typeface="Arial"/>
              <a:buChar char="•"/>
            </a:pPr>
            <a:r>
              <a:rPr lang="en-US" sz="2999" b="1" i="0" u="none" strike="noStrike" cap="none" dirty="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 xml:space="preserve">Scaling plan : </a:t>
            </a:r>
            <a:r>
              <a:rPr lang="en-US" sz="2600" dirty="0">
                <a:latin typeface="Times" panose="02020603050405020304" pitchFamily="18" charset="0"/>
                <a:cs typeface="Times" panose="02020603050405020304" pitchFamily="18" charset="0"/>
              </a:rPr>
              <a:t>Addition of user profiles to track actual portfolio performance against original simulations.</a:t>
            </a:r>
            <a:endParaRPr sz="2600" b="1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647697" lvl="1" indent="-323848" algn="just">
              <a:lnSpc>
                <a:spcPct val="140013"/>
              </a:lnSpc>
              <a:buSzPts val="2999"/>
              <a:buFont typeface="Arial"/>
              <a:buChar char="•"/>
            </a:pPr>
            <a:r>
              <a:rPr lang="en-US" sz="2999" b="1" i="0" u="none" strike="noStrike" cap="none" dirty="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 xml:space="preserve">Integration with real systems (e.g., trading APIs) : </a:t>
            </a:r>
            <a:r>
              <a:rPr lang="en-US" sz="2600" dirty="0">
                <a:latin typeface="Times" panose="02020603050405020304" pitchFamily="18" charset="0"/>
                <a:cs typeface="Times" panose="02020603050405020304" pitchFamily="18" charset="0"/>
              </a:rPr>
              <a:t>Direct API links to trading terminals for one-click portfolio rebalancing based on sandbox results.</a:t>
            </a:r>
            <a:endParaRPr sz="2600" b="1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647697" lvl="1" indent="-323848" algn="just">
              <a:lnSpc>
                <a:spcPct val="140013"/>
              </a:lnSpc>
              <a:buSzPts val="2999"/>
              <a:buFont typeface="Arial"/>
              <a:buChar char="•"/>
            </a:pPr>
            <a:r>
              <a:rPr lang="en-US" sz="2999" b="1" i="0" u="none" strike="noStrike" cap="none" dirty="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 xml:space="preserve">Business potential : </a:t>
            </a:r>
            <a:r>
              <a:rPr lang="en-US" sz="2600" dirty="0">
                <a:latin typeface="Times" panose="02020603050405020304" pitchFamily="18" charset="0"/>
                <a:cs typeface="Times" panose="02020603050405020304" pitchFamily="18" charset="0"/>
              </a:rPr>
              <a:t>High potential for B2B licensing to Fintech apps looking to enhance user engagement through AI-driven education.</a:t>
            </a:r>
            <a:endParaRPr sz="2600" b="1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692</Words>
  <Application>Microsoft Office PowerPoint</Application>
  <PresentationFormat>Custom</PresentationFormat>
  <Paragraphs>49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Inter SemiBold</vt:lpstr>
      <vt:lpstr>Times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Bhupinder Singh</cp:lastModifiedBy>
  <cp:revision>1</cp:revision>
  <dcterms:created xsi:type="dcterms:W3CDTF">2006-08-16T00:00:00Z</dcterms:created>
  <dcterms:modified xsi:type="dcterms:W3CDTF">2026-04-11T15:01:04Z</dcterms:modified>
</cp:coreProperties>
</file>